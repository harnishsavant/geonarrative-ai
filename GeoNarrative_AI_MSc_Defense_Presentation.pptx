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members of the evaluation committee and esteemed faculty. Today, I am proud to present my M.Sc. dissertation research titled GeoNarrative AI. This research addresses one of Pune's most pressing urban challenges—flooding—by bridging rigorous spatial analytical modeling with an intelligent, 3D WebGL Digital Twin and an explainable GeoAI decision-support platform.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Pune experiences unprecedented urban expansion, the proliferation of impervious surfaces alongside erratic monsoon precipitation has turned urban flood management into a critical priority. Traditional disaster management relies heavily on static, two-dimensional GIS printouts or decoupled tables. These conventional deliverables fail to provide emergency controllers with interactive multi-scenario exploration or real-time explainability during critical flood events.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resolve these operational bottlenecks, this thesis establishes three comprehensive research objectives. First, to model flood susceptibility across Pune using a rigorous five-factor Analytic Hierarchy Process. Second, to quantify actual infrastructure exposure across multiple storm severities. And third, to engineer an enterprise-grade 3D Digital Twin that integrates an LLM-driven GeoAI assistant capable of synthesizing automated disaster reports and explaining spatial analytics through natural language dialogue.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domain of investigation covers the entire administrative boundary of the Pune Municipal Corporation, spanning exactly 506.91 square kilometers. To perform high-resolution exposure assessment, we integrated and pre-processed a massive municipal inventory comprising over 7,445 kilometers of road networks and exactly 180,307 georegistered building structures, creating a robust baseline for vulnerability evaluation.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methodology is structurally grounded in the United Nations Disaster Risk Reduction framework, where overall disaster risk is defined as the mathematical product of Hazard intensity, Structural Exposure, and localized Vulnerability. By constructing a fully end-to-end analytical pipeline—from PostGIS database ingestion to GDAL spatial raster algebra—our platform guarantees that every visual layer displayed in the 3D frontend is underpinned by defensible statistical equations.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compute the continuous Flood Susceptibility Index, we employed an Analytic Hierarchy Process utilizing a five-factor weighted linear combination. Based on geomorphological dominance, Topographic Elevation and Euclidean Distance to permanent rivers received the highest weights of 35% and 25%, respectively, followed by Topographic Slope at 20%, and LULC alongside Building Density at 10% each. Our expert pairwise judgment matrix achieved a rigorous Consistency Ratio of just 0.038, well below the acceptable limit of 0.10, proving mathematical soundness.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inspect the core spatial raster outputs generated during our GIS modeling phase. On the left, the Digital Elevation Model illustrates the steep elevation drop from the western hills into the Mula-Mutha valley. In the center, our Topographic Slope map clearly delineates ultra-low gradient floodplains where water ponding inevitably concentrates during prolonged storms. On the right, our continuous Euclidean Distance matrix establishes precise spatial proximity bands from every building to the primary river network.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executing our AHP overlay algebra, we generate Figure 5.11—the definitive Flood Susceptibility Map of Pune Municipal Corporation. The spatial distribution demonstrates that high and very high susceptibility zones—shown in purple and red—cluster aggressively along river corridors and historic dense core wards. When superimposed against our building density map in Figure 5.10, we clearly visualize how extreme anthropogenic structural density exacerbates hydrological vulnerability.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this juncture, it is critical to state the scientific boundaries of our simulation framework with unconditional precision. The flood depth approximations generated within GeoNarrative AI represent scenario-derived relative inundation depth estimates. Rather than solving fluid mechanical Navier-Stokes or shallow water differential equations, our model derives relative inundation intensities from topological DEM depressions, susceptibility indices, and precipitation scaling. This provides municipal emergency commanders with instant, computationally efficient spatial prioritization without the extreme CPU rendering latency of traditional fluid modeling.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comprehensive data matrix represents the central quantitative results of my dissertation. Across our four meteorological scenarios, we observe a dramatic scaling of infrastructure exposure. Under the Extreme Cloudburst Scenario—representing rainfall rates reaching 120 millimeters per hour—the model reveals that 133.97 square kilometers of urban area (over 26% of Pune) is inundated. In this critical regime, exactly 40,723 structural buildings (22.59% of the structural inventory) and 1,877.47 kilometers of municipal transport road networks (25.21% of total arterial roads) experience severe hazard exposure.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operationalize these spatial findings, we engineered a state-of-the-art enterprise WebGL software architecture. Our backend combines Python FastAPI microservices with a PostGIS spatial database engine to execute high-performance spatial intersecting queries in real time. Our frontend leverages CesiumJS 3D WebGL rendering, incorporating pre-compiled animation frames to visualize flood propagation smoothly across the terrain while dynamically shifting structural building colors from safe cyan to critical red as simulated water exposure intensifies.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defining novelty of GeoNarrative AI is the integration of an explainable Large Language Model conversational assistant. In a real-world municipal control room, disaster management coordinators rarely have GIS programming expertise. Our GeoAI assistant enables coordinators to simply type questions such as 'What is the structural impact on Shivajinagar during an extreme cloudburst?' to instantly retrieve verified empirical figures and generate formal, automated executive situation reports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maintaining academic rigor and scientific integrity, it is essential to highlight our research boundaries. Presently, spatial precision is governed by our 30-meter Digital Elevation Model resolution, which naturally abstracts macro-topographical features while missing sub-meter drainage structures like curbs or stormwater culverts. Looking forward, our architecture is built modularly to ingest 1-meter drone-derived LiDAR datasets and live IoT water level telemetry sensors, which will eventually allow real-time coupling with complex finite-element hydrodynamic physics equations.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GeoNarrative AI successfully demonstrates that standard GIS hazard evaluation can be transformed from static archival maps into an intelligent, interactive, and actionable Smart City decision support instrument. By combining a validated five-factor AHP hazard model with empirical exposure quantification across more than 180,000 structures in Pune, this dissertation provides a reproducible and robust framework for urban flood resilience. I sincerely thank the committee for your time and attention, and I now welcome any questions or suggestions.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645920"/>
            <a:ext cx="137160" cy="2926080"/>
          </a:xfrm>
          <a:prstGeom prst="rect">
            <a:avLst/>
          </a:prstGeom>
          <a:solidFill>
            <a:srgbClr val="00F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554480"/>
            <a:ext cx="10058400" cy="4114800"/>
          </a:xfrm>
          <a:prstGeom prst="rect">
            <a:avLst/>
          </a:prstGeom>
          <a:noFill/>
        </p:spPr>
        <p:txBody>
          <a:bodyPr wrap="square">
            <a:spAutoFit/>
          </a:bodyPr>
          <a:lstStyle/>
          <a:p>
            <a:pPr>
              <a:defRPr sz="4800" b="1">
                <a:solidFill>
                  <a:srgbClr val="00F5D4"/>
                </a:solidFill>
                <a:latin typeface="Segoe UI"/>
              </a:defRPr>
            </a:pPr>
            <a:r>
              <a:t>GEONARRATIVE AI</a:t>
            </a:r>
          </a:p>
          <a:p>
            <a:pPr>
              <a:spcBef>
                <a:spcPts val="1500"/>
              </a:spcBef>
              <a:defRPr sz="2200">
                <a:solidFill>
                  <a:srgbClr val="FFFFFF"/>
                </a:solidFill>
                <a:latin typeface="Segoe UI"/>
              </a:defRPr>
            </a:pPr>
            <a:r>
              <a:t>An Intelligent Geospatial Digital Twin and GeoAI Decision-Support Framework for Urban Flood Risk Assessment in Pune</a:t>
            </a:r>
          </a:p>
          <a:p>
            <a:br/>
            <a:pPr>
              <a:spcBef>
                <a:spcPts val="2500"/>
              </a:spcBef>
              <a:defRPr sz="1600">
                <a:solidFill>
                  <a:srgbClr val="DCE6F2"/>
                </a:solidFill>
                <a:latin typeface="Segoe UI"/>
              </a:defRPr>
            </a:pPr>
            <a:r>
              <a:t>Student: Harnish Savant</a:t>
            </a:r>
            <a:br/>
            <a:r>
              <a:t>Programme: M.Sc. Data Science and Spatial Analytics (Geo-Intelligence)</a:t>
            </a:r>
            <a:br/>
            <a:r>
              <a:t>Institute: Symbiosis Institute of Geoinformatics (SIG), Pune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00F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94360"/>
          </a:xfrm>
          <a:prstGeom prst="rect">
            <a:avLst/>
          </a:prstGeom>
          <a:noFill/>
        </p:spPr>
        <p:txBody>
          <a:bodyPr wrap="square">
            <a:spAutoFit/>
          </a:bodyPr>
          <a:lstStyle/>
          <a:p>
            <a:pPr>
              <a:defRPr sz="2600" b="1">
                <a:solidFill>
                  <a:srgbClr val="FFFFFF"/>
                </a:solidFill>
                <a:latin typeface="Segoe UI"/>
              </a:defRPr>
            </a:pPr>
            <a:r>
              <a:t>1. PROBLEM DEFINITION: THE URBAN HYDROLOGICAL CRISIS IN PUNE</a:t>
            </a:r>
          </a:p>
        </p:txBody>
      </p:sp>
      <p:sp>
        <p:nvSpPr>
          <p:cNvPr id="5" name="TextBox 4"/>
          <p:cNvSpPr txBox="1"/>
          <p:nvPr/>
        </p:nvSpPr>
        <p:spPr>
          <a:xfrm>
            <a:off x="457200" y="6446520"/>
            <a:ext cx="10972800" cy="320040"/>
          </a:xfrm>
          <a:prstGeom prst="rect">
            <a:avLst/>
          </a:prstGeom>
          <a:noFill/>
        </p:spPr>
        <p:txBody>
          <a:bodyPr wrap="none">
            <a:spAutoFit/>
          </a:bodyPr>
          <a:lstStyle/>
          <a:p>
            <a:pPr>
              <a:defRPr sz="1000">
                <a:solidFill>
                  <a:srgbClr val="DCE6F2"/>
                </a:solidFill>
                <a:latin typeface="Segoe UI"/>
              </a:defRPr>
            </a:pPr>
            <a:r>
              <a:t>GEONARRATIVE AI  |  M.SC. THESIS DEFENSE  |  SYMBIOSIS INSTITUTE OF GEOINFORMATICS (SIG), PUNE</a:t>
            </a:r>
          </a:p>
        </p:txBody>
      </p:sp>
      <p:sp>
        <p:nvSpPr>
          <p:cNvPr id="6" name="TextBox 5"/>
          <p:cNvSpPr txBox="1"/>
          <p:nvPr/>
        </p:nvSpPr>
        <p:spPr>
          <a:xfrm>
            <a:off x="731520" y="1097280"/>
            <a:ext cx="10698480" cy="5029200"/>
          </a:xfrm>
          <a:prstGeom prst="rect">
            <a:avLst/>
          </a:prstGeom>
          <a:noFill/>
        </p:spPr>
        <p:txBody>
          <a:bodyPr wrap="square">
            <a:spAutoFit/>
          </a:bodyPr>
          <a:lstStyle/>
          <a:p>
            <a:pPr>
              <a:defRPr sz="2200" b="1">
                <a:solidFill>
                  <a:srgbClr val="00F5D4"/>
                </a:solidFill>
              </a:defRPr>
            </a:pPr>
            <a:r>
              <a:t>Accelerated Urbanization &amp; Monsoon Cloudburst Vulnerability</a:t>
            </a:r>
          </a:p>
          <a:p>
            <a:pPr>
              <a:spcBef>
                <a:spcPts val="1200"/>
              </a:spcBef>
              <a:defRPr sz="1800" b="1">
                <a:solidFill>
                  <a:srgbClr val="FFBE0B"/>
                </a:solidFill>
              </a:defRPr>
            </a:pPr>
            <a:r>
              <a:t>•  Topographical Complexity: </a:t>
            </a:r>
            <a:r>
              <a:rPr sz="1700" b="0">
                <a:solidFill>
                  <a:srgbClr val="FFFFFF"/>
                </a:solidFill>
              </a:rPr>
              <a:t>The Mula-Mutha river valley experiences intense seasonal monsoon cloudbursts. Extreme urbanization and increased impervious surface sealing lead to rapid runoff accumulation in low-lying basins.</a:t>
            </a:r>
          </a:p>
          <a:p>
            <a:pPr>
              <a:spcBef>
                <a:spcPts val="1200"/>
              </a:spcBef>
              <a:defRPr sz="1800" b="1">
                <a:solidFill>
                  <a:srgbClr val="FFBE0B"/>
                </a:solidFill>
              </a:defRPr>
            </a:pPr>
            <a:r>
              <a:t>•  Limitations of Traditional Static Maps: </a:t>
            </a:r>
            <a:r>
              <a:rPr sz="1700" b="0">
                <a:solidFill>
                  <a:srgbClr val="FFFFFF"/>
                </a:solidFill>
              </a:rPr>
              <a:t>Standard 2D GIS flood hazard printouts lack real-time dynamic interactivity and fail to provide municipal responders with exploratory scenario simulation.</a:t>
            </a:r>
          </a:p>
          <a:p>
            <a:pPr>
              <a:spcBef>
                <a:spcPts val="1200"/>
              </a:spcBef>
              <a:defRPr sz="1800" b="1">
                <a:solidFill>
                  <a:srgbClr val="FFBE0B"/>
                </a:solidFill>
              </a:defRPr>
            </a:pPr>
            <a:r>
              <a:t>•  Operational Data Silos: </a:t>
            </a:r>
            <a:r>
              <a:rPr sz="1700" b="0">
                <a:solidFill>
                  <a:srgbClr val="FFFFFF"/>
                </a:solidFill>
              </a:rPr>
              <a:t>Hydrological spatial modeling (AHP/GIS) remains completely decoupled from operational municipal emergency disaster coordination engines.</a:t>
            </a:r>
          </a:p>
          <a:p>
            <a:pPr>
              <a:spcBef>
                <a:spcPts val="1200"/>
              </a:spcBef>
              <a:defRPr sz="1800" b="1">
                <a:solidFill>
                  <a:srgbClr val="FFBE0B"/>
                </a:solidFill>
              </a:defRPr>
            </a:pPr>
            <a:r>
              <a:t>•  Lack of Analytical Explainability: </a:t>
            </a:r>
            <a:r>
              <a:rPr sz="1700" b="0">
                <a:solidFill>
                  <a:srgbClr val="FFFFFF"/>
                </a:solidFill>
              </a:rPr>
              <a:t>Emergency coordinators lack automated, explainable decision-support interfaces to interpret spatial numerical susceptibility indices instantaneously during critical flood crises.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00F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94360"/>
          </a:xfrm>
          <a:prstGeom prst="rect">
            <a:avLst/>
          </a:prstGeom>
          <a:noFill/>
        </p:spPr>
        <p:txBody>
          <a:bodyPr wrap="square">
            <a:spAutoFit/>
          </a:bodyPr>
          <a:lstStyle/>
          <a:p>
            <a:pPr>
              <a:defRPr sz="2600" b="1">
                <a:solidFill>
                  <a:srgbClr val="FFFFFF"/>
                </a:solidFill>
                <a:latin typeface="Segoe UI"/>
              </a:defRPr>
            </a:pPr>
            <a:r>
              <a:t>2. RESEARCH OBJECTIVES (RQ1 - RQ3) &amp; SCIENTIFIC NOVELTY</a:t>
            </a:r>
          </a:p>
        </p:txBody>
      </p:sp>
      <p:sp>
        <p:nvSpPr>
          <p:cNvPr id="5" name="TextBox 4"/>
          <p:cNvSpPr txBox="1"/>
          <p:nvPr/>
        </p:nvSpPr>
        <p:spPr>
          <a:xfrm>
            <a:off x="457200" y="6446520"/>
            <a:ext cx="10972800" cy="320040"/>
          </a:xfrm>
          <a:prstGeom prst="rect">
            <a:avLst/>
          </a:prstGeom>
          <a:noFill/>
        </p:spPr>
        <p:txBody>
          <a:bodyPr wrap="none">
            <a:spAutoFit/>
          </a:bodyPr>
          <a:lstStyle/>
          <a:p>
            <a:pPr>
              <a:defRPr sz="1000">
                <a:solidFill>
                  <a:srgbClr val="DCE6F2"/>
                </a:solidFill>
                <a:latin typeface="Segoe UI"/>
              </a:defRPr>
            </a:pPr>
            <a:r>
              <a:t>GEONARRATIVE AI  |  M.SC. THESIS DEFENSE  |  SYMBIOSIS INSTITUTE OF GEOINFORMATICS (SIG), PUNE</a:t>
            </a:r>
          </a:p>
        </p:txBody>
      </p:sp>
      <p:sp>
        <p:nvSpPr>
          <p:cNvPr id="6" name="TextBox 5"/>
          <p:cNvSpPr txBox="1"/>
          <p:nvPr/>
        </p:nvSpPr>
        <p:spPr>
          <a:xfrm>
            <a:off x="731520" y="1188720"/>
            <a:ext cx="10698480" cy="4937760"/>
          </a:xfrm>
          <a:prstGeom prst="rect">
            <a:avLst/>
          </a:prstGeom>
          <a:noFill/>
        </p:spPr>
        <p:txBody>
          <a:bodyPr wrap="square">
            <a:spAutoFit/>
          </a:bodyPr>
          <a:lstStyle/>
          <a:p>
            <a:pPr>
              <a:spcBef>
                <a:spcPts val="0"/>
              </a:spcBef>
              <a:defRPr sz="2100" b="1">
                <a:solidFill>
                  <a:srgbClr val="00F5D4"/>
                </a:solidFill>
              </a:defRPr>
            </a:pPr>
            <a:r>
              <a:t>RQ1: Multi-Criteria Spatial Hazard Modeling</a:t>
            </a:r>
          </a:p>
          <a:p>
            <a:pPr>
              <a:spcBef>
                <a:spcPts val="500"/>
              </a:spcBef>
              <a:defRPr sz="1700">
                <a:solidFill>
                  <a:srgbClr val="FFFFFF"/>
                </a:solidFill>
              </a:defRPr>
            </a:pPr>
            <a:r>
              <a:t>Formulate and mathematically validate a continuous Flood Susceptibility Index (FSI) across Pune utilizing a robust 5-factor Analytic Hierarchy Process (AHP) weighted linear overlay.</a:t>
            </a:r>
          </a:p>
          <a:p>
            <a:pPr>
              <a:spcBef>
                <a:spcPts val="2000"/>
              </a:spcBef>
              <a:defRPr sz="2100" b="1">
                <a:solidFill>
                  <a:srgbClr val="FFBE0B"/>
                </a:solidFill>
              </a:defRPr>
            </a:pPr>
            <a:r>
              <a:t>RQ2: Infrastructure Exposure Quantification</a:t>
            </a:r>
          </a:p>
          <a:p>
            <a:pPr>
              <a:spcBef>
                <a:spcPts val="500"/>
              </a:spcBef>
              <a:defRPr sz="1700">
                <a:solidFill>
                  <a:srgbClr val="FFFFFF"/>
                </a:solidFill>
              </a:defRPr>
            </a:pPr>
            <a:r>
              <a:t>Establish a comprehensive, multi-scenario evaluation matrix evaluating vulnerability and physical exposure across municipal structural buildings and transportation networks.</a:t>
            </a:r>
          </a:p>
          <a:p>
            <a:pPr>
              <a:spcBef>
                <a:spcPts val="2000"/>
              </a:spcBef>
              <a:defRPr sz="2100" b="1">
                <a:solidFill>
                  <a:srgbClr val="78A0FF"/>
                </a:solidFill>
              </a:defRPr>
            </a:pPr>
            <a:r>
              <a:t>RQ3: Explainable Digital Twin Synthesis</a:t>
            </a:r>
          </a:p>
          <a:p>
            <a:pPr>
              <a:spcBef>
                <a:spcPts val="500"/>
              </a:spcBef>
              <a:defRPr sz="1700">
                <a:solidFill>
                  <a:srgbClr val="FFFFFF"/>
                </a:solidFill>
              </a:defRPr>
            </a:pPr>
            <a:r>
              <a:t>Develop a real-time, interactive 3D WebGL Digital Twin integrated with an LLM-driven GeoAI natural language assistant to automate technical disaster situation reports.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00F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94360"/>
          </a:xfrm>
          <a:prstGeom prst="rect">
            <a:avLst/>
          </a:prstGeom>
          <a:noFill/>
        </p:spPr>
        <p:txBody>
          <a:bodyPr wrap="square">
            <a:spAutoFit/>
          </a:bodyPr>
          <a:lstStyle/>
          <a:p>
            <a:pPr>
              <a:defRPr sz="2600" b="1">
                <a:solidFill>
                  <a:srgbClr val="FFFFFF"/>
                </a:solidFill>
                <a:latin typeface="Segoe UI"/>
              </a:defRPr>
            </a:pPr>
            <a:r>
              <a:t>3. STUDY AREA SCOPE: PUNE MUNICIPAL CORPORATION (PMC)</a:t>
            </a:r>
          </a:p>
        </p:txBody>
      </p:sp>
      <p:sp>
        <p:nvSpPr>
          <p:cNvPr id="5" name="TextBox 4"/>
          <p:cNvSpPr txBox="1"/>
          <p:nvPr/>
        </p:nvSpPr>
        <p:spPr>
          <a:xfrm>
            <a:off x="457200" y="6446520"/>
            <a:ext cx="10972800" cy="320040"/>
          </a:xfrm>
          <a:prstGeom prst="rect">
            <a:avLst/>
          </a:prstGeom>
          <a:noFill/>
        </p:spPr>
        <p:txBody>
          <a:bodyPr wrap="none">
            <a:spAutoFit/>
          </a:bodyPr>
          <a:lstStyle/>
          <a:p>
            <a:pPr>
              <a:defRPr sz="1000">
                <a:solidFill>
                  <a:srgbClr val="DCE6F2"/>
                </a:solidFill>
                <a:latin typeface="Segoe UI"/>
              </a:defRPr>
            </a:pPr>
            <a:r>
              <a:t>GEONARRATIVE AI  |  M.SC. THESIS DEFENSE  |  SYMBIOSIS INSTITUTE OF GEOINFORMATICS (SIG), PUNE</a:t>
            </a:r>
          </a:p>
        </p:txBody>
      </p:sp>
      <p:sp>
        <p:nvSpPr>
          <p:cNvPr id="6" name="TextBox 5"/>
          <p:cNvSpPr txBox="1"/>
          <p:nvPr/>
        </p:nvSpPr>
        <p:spPr>
          <a:xfrm>
            <a:off x="457200" y="1005840"/>
            <a:ext cx="5486400" cy="5029200"/>
          </a:xfrm>
          <a:prstGeom prst="rect">
            <a:avLst/>
          </a:prstGeom>
          <a:noFill/>
        </p:spPr>
        <p:txBody>
          <a:bodyPr wrap="square">
            <a:spAutoFit/>
          </a:bodyPr>
          <a:lstStyle/>
          <a:p>
            <a:pPr>
              <a:defRPr sz="2000" b="1">
                <a:solidFill>
                  <a:srgbClr val="00F5D4"/>
                </a:solidFill>
              </a:defRPr>
            </a:pPr>
            <a:r>
              <a:t>Empirical Infrastructure Scope &amp; Inventory</a:t>
            </a:r>
          </a:p>
          <a:p>
            <a:br/>
            <a:pPr>
              <a:defRPr sz="1700" b="1">
                <a:solidFill>
                  <a:srgbClr val="DCE6F2"/>
                </a:solidFill>
              </a:defRPr>
            </a:pPr>
            <a:r>
              <a:t>• Administrative Study Area: </a:t>
            </a:r>
            <a:r>
              <a:rPr sz="1800" b="1">
                <a:solidFill>
                  <a:srgbClr val="FFBE0B"/>
                </a:solidFill>
              </a:rPr>
              <a:t>506.91 sq. km</a:t>
            </a:r>
          </a:p>
          <a:p>
            <a:pPr>
              <a:defRPr sz="1400">
                <a:solidFill>
                  <a:srgbClr val="FFFFFF"/>
                </a:solidFill>
              </a:defRPr>
            </a:pPr>
            <a:r>
              <a:t>   (Entire PMC domain situated on the Deccan Plateau.)</a:t>
            </a:r>
          </a:p>
          <a:p>
            <a:br/>
            <a:pPr>
              <a:defRPr sz="1700" b="1">
                <a:solidFill>
                  <a:srgbClr val="DCE6F2"/>
                </a:solidFill>
              </a:defRPr>
            </a:pPr>
            <a:r>
              <a:t>• Structural Building Inventory: </a:t>
            </a:r>
            <a:r>
              <a:rPr sz="1800" b="1">
                <a:solidFill>
                  <a:srgbClr val="FFBE0B"/>
                </a:solidFill>
              </a:rPr>
              <a:t>180,307 structures</a:t>
            </a:r>
          </a:p>
          <a:p>
            <a:pPr>
              <a:defRPr sz="1400">
                <a:solidFill>
                  <a:srgbClr val="FFFFFF"/>
                </a:solidFill>
              </a:defRPr>
            </a:pPr>
            <a:r>
              <a:t>   (Georegistered structural building footprints used for exposure analysis.)</a:t>
            </a:r>
          </a:p>
          <a:p>
            <a:br/>
            <a:pPr>
              <a:defRPr sz="1700" b="1">
                <a:solidFill>
                  <a:srgbClr val="DCE6F2"/>
                </a:solidFill>
              </a:defRPr>
            </a:pPr>
            <a:r>
              <a:t>• Municipal Road Network: </a:t>
            </a:r>
            <a:r>
              <a:rPr sz="1800" b="1">
                <a:solidFill>
                  <a:srgbClr val="FFBE0B"/>
                </a:solidFill>
              </a:rPr>
              <a:t>7,445.90 km</a:t>
            </a:r>
          </a:p>
          <a:p>
            <a:pPr>
              <a:defRPr sz="1400">
                <a:solidFill>
                  <a:srgbClr val="FFFFFF"/>
                </a:solidFill>
              </a:defRPr>
            </a:pPr>
            <a:r>
              <a:t>   (Multimodal transport and urban vehicular arterial roads.)</a:t>
            </a:r>
          </a:p>
        </p:txBody>
      </p:sp>
      <p:pic>
        <p:nvPicPr>
          <p:cNvPr id="7" name="Picture 6" descr="2.jpg"/>
          <p:cNvPicPr>
            <a:picLocks noChangeAspect="1"/>
          </p:cNvPicPr>
          <p:nvPr/>
        </p:nvPicPr>
        <p:blipFill>
          <a:blip r:embed="rId2"/>
          <a:stretch>
            <a:fillRect/>
          </a:stretch>
        </p:blipFill>
        <p:spPr>
          <a:xfrm>
            <a:off x="6217920" y="1097280"/>
            <a:ext cx="5486400" cy="3878641"/>
          </a:xfrm>
          <a:prstGeom prst="rect">
            <a:avLst/>
          </a:prstGeom>
        </p:spPr>
      </p:pic>
      <p:pic>
        <p:nvPicPr>
          <p:cNvPr id="8" name="Picture 7" descr="4.jpg"/>
          <p:cNvPicPr>
            <a:picLocks noChangeAspect="1"/>
          </p:cNvPicPr>
          <p:nvPr/>
        </p:nvPicPr>
        <p:blipFill>
          <a:blip r:embed="rId3"/>
          <a:stretch>
            <a:fillRect/>
          </a:stretch>
        </p:blipFill>
        <p:spPr>
          <a:xfrm>
            <a:off x="6217920" y="3749039"/>
            <a:ext cx="5486400" cy="387864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00F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94360"/>
          </a:xfrm>
          <a:prstGeom prst="rect">
            <a:avLst/>
          </a:prstGeom>
          <a:noFill/>
        </p:spPr>
        <p:txBody>
          <a:bodyPr wrap="square">
            <a:spAutoFit/>
          </a:bodyPr>
          <a:lstStyle/>
          <a:p>
            <a:pPr>
              <a:defRPr sz="2600" b="1">
                <a:solidFill>
                  <a:srgbClr val="FFFFFF"/>
                </a:solidFill>
                <a:latin typeface="Segoe UI"/>
              </a:defRPr>
            </a:pPr>
            <a:r>
              <a:t>4. METHODOLOGICAL FRAMEWORK: UNDRR DISASTER RISK STANDARD</a:t>
            </a:r>
          </a:p>
        </p:txBody>
      </p:sp>
      <p:sp>
        <p:nvSpPr>
          <p:cNvPr id="5" name="TextBox 4"/>
          <p:cNvSpPr txBox="1"/>
          <p:nvPr/>
        </p:nvSpPr>
        <p:spPr>
          <a:xfrm>
            <a:off x="457200" y="6446520"/>
            <a:ext cx="10972800" cy="320040"/>
          </a:xfrm>
          <a:prstGeom prst="rect">
            <a:avLst/>
          </a:prstGeom>
          <a:noFill/>
        </p:spPr>
        <p:txBody>
          <a:bodyPr wrap="none">
            <a:spAutoFit/>
          </a:bodyPr>
          <a:lstStyle/>
          <a:p>
            <a:pPr>
              <a:defRPr sz="1000">
                <a:solidFill>
                  <a:srgbClr val="DCE6F2"/>
                </a:solidFill>
                <a:latin typeface="Segoe UI"/>
              </a:defRPr>
            </a:pPr>
            <a:r>
              <a:t>GEONARRATIVE AI  |  M.SC. THESIS DEFENSE  |  SYMBIOSIS INSTITUTE OF GEOINFORMATICS (SIG), PUNE</a:t>
            </a:r>
          </a:p>
        </p:txBody>
      </p:sp>
      <p:sp>
        <p:nvSpPr>
          <p:cNvPr id="6" name="TextBox 5"/>
          <p:cNvSpPr txBox="1"/>
          <p:nvPr/>
        </p:nvSpPr>
        <p:spPr>
          <a:xfrm>
            <a:off x="731520" y="1188720"/>
            <a:ext cx="10698480" cy="5029200"/>
          </a:xfrm>
          <a:prstGeom prst="rect">
            <a:avLst/>
          </a:prstGeom>
          <a:noFill/>
        </p:spPr>
        <p:txBody>
          <a:bodyPr wrap="square">
            <a:spAutoFit/>
          </a:bodyPr>
          <a:lstStyle/>
          <a:p>
            <a:pPr>
              <a:defRPr sz="2200" b="1">
                <a:solidFill>
                  <a:srgbClr val="00F5D4"/>
                </a:solidFill>
              </a:defRPr>
            </a:pPr>
            <a:r>
              <a:t>United Nations UNDRR Risk Formulation:</a:t>
            </a:r>
          </a:p>
          <a:p>
            <a:pPr algn="ctr">
              <a:spcBef>
                <a:spcPts val="1500"/>
              </a:spcBef>
              <a:defRPr sz="2800" b="1">
                <a:solidFill>
                  <a:srgbClr val="FF4C4C"/>
                </a:solidFill>
              </a:defRPr>
            </a:pPr>
            <a:r>
              <a:t>Risk  =  Hazard  ×  Exposure  ×  Vulnerability</a:t>
            </a:r>
          </a:p>
          <a:p>
            <a:pPr>
              <a:spcBef>
                <a:spcPts val="1500"/>
              </a:spcBef>
              <a:defRPr sz="1800" b="1">
                <a:solidFill>
                  <a:srgbClr val="FFBE0B"/>
                </a:solidFill>
              </a:defRPr>
            </a:pPr>
            <a:r>
              <a:t>1. Geospatial ETL &amp; Data Harmonization</a:t>
            </a:r>
          </a:p>
          <a:p>
            <a:pPr>
              <a:defRPr sz="1600">
                <a:solidFill>
                  <a:srgbClr val="FFFFFF"/>
                </a:solidFill>
              </a:defRPr>
            </a:pPr>
            <a:r>
              <a:t>Ingestion of OpenStreetMap spatial layers, USGS EarthEngine topography (DEM), and hydrological streamlines into PostGIS.</a:t>
            </a:r>
          </a:p>
          <a:p>
            <a:pPr>
              <a:spcBef>
                <a:spcPts val="1500"/>
              </a:spcBef>
              <a:defRPr sz="1800" b="1">
                <a:solidFill>
                  <a:srgbClr val="FFBE0B"/>
                </a:solidFill>
              </a:defRPr>
            </a:pPr>
            <a:r>
              <a:t>2. Analytical Raster Algebra (GDAL / AHP)</a:t>
            </a:r>
          </a:p>
          <a:p>
            <a:pPr>
              <a:defRPr sz="1600">
                <a:solidFill>
                  <a:srgbClr val="FFFFFF"/>
                </a:solidFill>
              </a:defRPr>
            </a:pPr>
            <a:r>
              <a:t>Derivation of Euclidean river distance arrays, topographic slope angles, and 5-factor weighted overlay algebra.</a:t>
            </a:r>
          </a:p>
          <a:p>
            <a:pPr>
              <a:spcBef>
                <a:spcPts val="1500"/>
              </a:spcBef>
              <a:defRPr sz="1800" b="1">
                <a:solidFill>
                  <a:srgbClr val="FFBE0B"/>
                </a:solidFill>
              </a:defRPr>
            </a:pPr>
            <a:r>
              <a:t>3. Infrastructure Spatial Intersection</a:t>
            </a:r>
          </a:p>
          <a:p>
            <a:pPr>
              <a:defRPr sz="1600">
                <a:solidFill>
                  <a:srgbClr val="FFFFFF"/>
                </a:solidFill>
              </a:defRPr>
            </a:pPr>
            <a:r>
              <a:t>Multi-scenario spatial intersection mapping building structural impact and road network severance.</a:t>
            </a:r>
          </a:p>
          <a:p>
            <a:pPr>
              <a:spcBef>
                <a:spcPts val="1500"/>
              </a:spcBef>
              <a:defRPr sz="1800" b="1">
                <a:solidFill>
                  <a:srgbClr val="FFBE0B"/>
                </a:solidFill>
              </a:defRPr>
            </a:pPr>
            <a:r>
              <a:t>4. Digital Twin WebGL &amp; GeoAI Synthesis</a:t>
            </a:r>
          </a:p>
          <a:p>
            <a:pPr>
              <a:defRPr sz="1600">
                <a:solidFill>
                  <a:srgbClr val="FFFFFF"/>
                </a:solidFill>
              </a:defRPr>
            </a:pPr>
            <a:r>
              <a:t>3D CesiumJS visual scene generation and Large Language Model (LLM) natural language analytical explanation.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00F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94360"/>
          </a:xfrm>
          <a:prstGeom prst="rect">
            <a:avLst/>
          </a:prstGeom>
          <a:noFill/>
        </p:spPr>
        <p:txBody>
          <a:bodyPr wrap="square">
            <a:spAutoFit/>
          </a:bodyPr>
          <a:lstStyle/>
          <a:p>
            <a:pPr>
              <a:defRPr sz="2600" b="1">
                <a:solidFill>
                  <a:srgbClr val="FFFFFF"/>
                </a:solidFill>
                <a:latin typeface="Segoe UI"/>
              </a:defRPr>
            </a:pPr>
            <a:r>
              <a:t>5. HAZARD MODELING: THE 5-FACTOR AHP OVERLAY ENGINE</a:t>
            </a:r>
          </a:p>
        </p:txBody>
      </p:sp>
      <p:sp>
        <p:nvSpPr>
          <p:cNvPr id="5" name="TextBox 4"/>
          <p:cNvSpPr txBox="1"/>
          <p:nvPr/>
        </p:nvSpPr>
        <p:spPr>
          <a:xfrm>
            <a:off x="457200" y="6446520"/>
            <a:ext cx="10972800" cy="320040"/>
          </a:xfrm>
          <a:prstGeom prst="rect">
            <a:avLst/>
          </a:prstGeom>
          <a:noFill/>
        </p:spPr>
        <p:txBody>
          <a:bodyPr wrap="none">
            <a:spAutoFit/>
          </a:bodyPr>
          <a:lstStyle/>
          <a:p>
            <a:pPr>
              <a:defRPr sz="1000">
                <a:solidFill>
                  <a:srgbClr val="DCE6F2"/>
                </a:solidFill>
                <a:latin typeface="Segoe UI"/>
              </a:defRPr>
            </a:pPr>
            <a:r>
              <a:t>GEONARRATIVE AI  |  M.SC. THESIS DEFENSE  |  SYMBIOSIS INSTITUTE OF GEOINFORMATICS (SIG), PUNE</a:t>
            </a:r>
          </a:p>
        </p:txBody>
      </p:sp>
      <p:sp>
        <p:nvSpPr>
          <p:cNvPr id="6" name="TextBox 5"/>
          <p:cNvSpPr txBox="1"/>
          <p:nvPr/>
        </p:nvSpPr>
        <p:spPr>
          <a:xfrm>
            <a:off x="548640" y="1097280"/>
            <a:ext cx="11064240" cy="5029200"/>
          </a:xfrm>
          <a:prstGeom prst="rect">
            <a:avLst/>
          </a:prstGeom>
          <a:noFill/>
        </p:spPr>
        <p:txBody>
          <a:bodyPr wrap="square">
            <a:spAutoFit/>
          </a:bodyPr>
          <a:lstStyle/>
          <a:p>
            <a:pPr>
              <a:defRPr sz="2000" b="1">
                <a:solidFill>
                  <a:srgbClr val="00F5D4"/>
                </a:solidFill>
              </a:defRPr>
            </a:pPr>
            <a:r>
              <a:t>Mathematical Formulation:   FSI = ∑ ( w_j · S_ij )   [where w_j are normalized factor weights]</a:t>
            </a:r>
          </a:p>
          <a:p>
            <a:pPr>
              <a:spcBef>
                <a:spcPts val="1200"/>
              </a:spcBef>
              <a:defRPr sz="1700" b="1">
                <a:solidFill>
                  <a:srgbClr val="DCE6F2"/>
                </a:solidFill>
              </a:defRPr>
            </a:pPr>
            <a:r>
              <a:t>•  Digital Elevation Model (DEM)  →  Weight: </a:t>
            </a:r>
            <a:r>
              <a:rPr sz="1800" b="1">
                <a:solidFill>
                  <a:srgbClr val="FFBE0B"/>
                </a:solidFill>
              </a:rPr>
              <a:t>0.35 (35%)</a:t>
            </a:r>
            <a:r>
              <a:rPr sz="1500" b="0">
                <a:solidFill>
                  <a:srgbClr val="FFFFFF"/>
                </a:solidFill>
              </a:rPr>
              <a:t>   (Primary hydrological baseline governing gravitational flow density and drainage aggregation.)</a:t>
            </a:r>
          </a:p>
          <a:p>
            <a:pPr>
              <a:spcBef>
                <a:spcPts val="1200"/>
              </a:spcBef>
              <a:defRPr sz="1700" b="1">
                <a:solidFill>
                  <a:srgbClr val="DCE6F2"/>
                </a:solidFill>
              </a:defRPr>
            </a:pPr>
            <a:r>
              <a:t>•  Euclidean Distance to River  →  Weight: </a:t>
            </a:r>
            <a:r>
              <a:rPr sz="1800" b="1">
                <a:solidFill>
                  <a:srgbClr val="FFBE0B"/>
                </a:solidFill>
              </a:rPr>
              <a:t>0.25 (25%)</a:t>
            </a:r>
            <a:r>
              <a:rPr sz="1500" b="0">
                <a:solidFill>
                  <a:srgbClr val="FFFFFF"/>
                </a:solidFill>
              </a:rPr>
              <a:t>   (Direct geographical distance to perennial Mula, Mutha, and Pavana overflow alignments.)</a:t>
            </a:r>
          </a:p>
          <a:p>
            <a:pPr>
              <a:spcBef>
                <a:spcPts val="1200"/>
              </a:spcBef>
              <a:defRPr sz="1700" b="1">
                <a:solidFill>
                  <a:srgbClr val="DCE6F2"/>
                </a:solidFill>
              </a:defRPr>
            </a:pPr>
            <a:r>
              <a:t>•  Topographic Slope Angle  →  Weight: </a:t>
            </a:r>
            <a:r>
              <a:rPr sz="1800" b="1">
                <a:solidFill>
                  <a:srgbClr val="FFBE0B"/>
                </a:solidFill>
              </a:rPr>
              <a:t>0.20 (20%)</a:t>
            </a:r>
            <a:r>
              <a:rPr sz="1500" b="0">
                <a:solidFill>
                  <a:srgbClr val="FFFFFF"/>
                </a:solidFill>
              </a:rPr>
              <a:t>   (Surface gradient influencing water velocity and localized ponding accumulation in basin flats.)</a:t>
            </a:r>
          </a:p>
          <a:p>
            <a:pPr>
              <a:spcBef>
                <a:spcPts val="1200"/>
              </a:spcBef>
              <a:defRPr sz="1700" b="1">
                <a:solidFill>
                  <a:srgbClr val="DCE6F2"/>
                </a:solidFill>
              </a:defRPr>
            </a:pPr>
            <a:r>
              <a:t>•  Land Use / Land Cover (LULC)  →  Weight: </a:t>
            </a:r>
            <a:r>
              <a:rPr sz="1800" b="1">
                <a:solidFill>
                  <a:srgbClr val="FFBE0B"/>
                </a:solidFill>
              </a:rPr>
              <a:t>0.10 (10%)</a:t>
            </a:r>
            <a:r>
              <a:rPr sz="1500" b="0">
                <a:solidFill>
                  <a:srgbClr val="FFFFFF"/>
                </a:solidFill>
              </a:rPr>
              <a:t>   (Impervious surface runoff coefficients and natural infiltration inhibition.)</a:t>
            </a:r>
          </a:p>
          <a:p>
            <a:pPr>
              <a:spcBef>
                <a:spcPts val="1200"/>
              </a:spcBef>
              <a:defRPr sz="1700" b="1">
                <a:solidFill>
                  <a:srgbClr val="DCE6F2"/>
                </a:solidFill>
              </a:defRPr>
            </a:pPr>
            <a:r>
              <a:t>•  Structural Building Density  →  Weight: </a:t>
            </a:r>
            <a:r>
              <a:rPr sz="1800" b="1">
                <a:solidFill>
                  <a:srgbClr val="FFBE0B"/>
                </a:solidFill>
              </a:rPr>
              <a:t>0.10 (10%)</a:t>
            </a:r>
            <a:r>
              <a:rPr sz="1500" b="0">
                <a:solidFill>
                  <a:srgbClr val="FFFFFF"/>
                </a:solidFill>
              </a:rPr>
              <a:t>   (Anthropogenic urban structural sealing and artificial surface flow channeling.)</a:t>
            </a:r>
          </a:p>
          <a:p>
            <a:br/>
            <a:pPr>
              <a:defRPr sz="1700" b="1">
                <a:solidFill>
                  <a:srgbClr val="FF4C4C"/>
                </a:solidFill>
              </a:defRPr>
            </a:pPr>
            <a:r>
              <a:t>Mathematical Consistency Verification:  Consistency Ratio (CR) = 0.038  (Complying strictly with Saaty's academic threshold of CR &lt; 0.10).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00F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94360"/>
          </a:xfrm>
          <a:prstGeom prst="rect">
            <a:avLst/>
          </a:prstGeom>
          <a:noFill/>
        </p:spPr>
        <p:txBody>
          <a:bodyPr wrap="square">
            <a:spAutoFit/>
          </a:bodyPr>
          <a:lstStyle/>
          <a:p>
            <a:pPr>
              <a:defRPr sz="2600" b="1">
                <a:solidFill>
                  <a:srgbClr val="FFFFFF"/>
                </a:solidFill>
                <a:latin typeface="Segoe UI"/>
              </a:defRPr>
            </a:pPr>
            <a:r>
              <a:t>6. GEOSPATIAL FACTOR MAPPING: MORPHOLOGICAL &amp; HYDROLOGY DRIVERS</a:t>
            </a:r>
          </a:p>
        </p:txBody>
      </p:sp>
      <p:sp>
        <p:nvSpPr>
          <p:cNvPr id="5" name="TextBox 4"/>
          <p:cNvSpPr txBox="1"/>
          <p:nvPr/>
        </p:nvSpPr>
        <p:spPr>
          <a:xfrm>
            <a:off x="457200" y="6446520"/>
            <a:ext cx="10972800" cy="320040"/>
          </a:xfrm>
          <a:prstGeom prst="rect">
            <a:avLst/>
          </a:prstGeom>
          <a:noFill/>
        </p:spPr>
        <p:txBody>
          <a:bodyPr wrap="none">
            <a:spAutoFit/>
          </a:bodyPr>
          <a:lstStyle/>
          <a:p>
            <a:pPr>
              <a:defRPr sz="1000">
                <a:solidFill>
                  <a:srgbClr val="DCE6F2"/>
                </a:solidFill>
                <a:latin typeface="Segoe UI"/>
              </a:defRPr>
            </a:pPr>
            <a:r>
              <a:t>GEONARRATIVE AI  |  M.SC. THESIS DEFENSE  |  SYMBIOSIS INSTITUTE OF GEOINFORMATICS (SIG), PUNE</a:t>
            </a:r>
          </a:p>
        </p:txBody>
      </p:sp>
      <p:sp>
        <p:nvSpPr>
          <p:cNvPr id="6" name="TextBox 5"/>
          <p:cNvSpPr txBox="1"/>
          <p:nvPr/>
        </p:nvSpPr>
        <p:spPr>
          <a:xfrm>
            <a:off x="457200" y="1005840"/>
            <a:ext cx="10972800" cy="731520"/>
          </a:xfrm>
          <a:prstGeom prst="rect">
            <a:avLst/>
          </a:prstGeom>
          <a:noFill/>
        </p:spPr>
        <p:txBody>
          <a:bodyPr wrap="square">
            <a:spAutoFit/>
          </a:bodyPr>
          <a:lstStyle/>
          <a:p>
            <a:pPr>
              <a:defRPr sz="2000" b="1">
                <a:solidFill>
                  <a:srgbClr val="00F5D4"/>
                </a:solidFill>
              </a:defRPr>
            </a:pPr>
            <a:r>
              <a:t>Spatial Driver Outputs (Elevation, Slope &amp; River Distance Buffering):</a:t>
            </a:r>
          </a:p>
        </p:txBody>
      </p:sp>
      <p:pic>
        <p:nvPicPr>
          <p:cNvPr id="7" name="Picture 6" descr="6.jpg"/>
          <p:cNvPicPr>
            <a:picLocks noChangeAspect="1"/>
          </p:cNvPicPr>
          <p:nvPr/>
        </p:nvPicPr>
        <p:blipFill>
          <a:blip r:embed="rId2"/>
          <a:stretch>
            <a:fillRect/>
          </a:stretch>
        </p:blipFill>
        <p:spPr>
          <a:xfrm>
            <a:off x="365760" y="1737360"/>
            <a:ext cx="3657600" cy="2585761"/>
          </a:xfrm>
          <a:prstGeom prst="rect">
            <a:avLst/>
          </a:prstGeom>
        </p:spPr>
      </p:pic>
      <p:pic>
        <p:nvPicPr>
          <p:cNvPr id="8" name="Picture 7" descr="8.jpg"/>
          <p:cNvPicPr>
            <a:picLocks noChangeAspect="1"/>
          </p:cNvPicPr>
          <p:nvPr/>
        </p:nvPicPr>
        <p:blipFill>
          <a:blip r:embed="rId3"/>
          <a:stretch>
            <a:fillRect/>
          </a:stretch>
        </p:blipFill>
        <p:spPr>
          <a:xfrm>
            <a:off x="4206240" y="1737360"/>
            <a:ext cx="3657600" cy="2585761"/>
          </a:xfrm>
          <a:prstGeom prst="rect">
            <a:avLst/>
          </a:prstGeom>
        </p:spPr>
      </p:pic>
      <p:pic>
        <p:nvPicPr>
          <p:cNvPr id="9" name="Picture 8" descr="9.jpg"/>
          <p:cNvPicPr>
            <a:picLocks noChangeAspect="1"/>
          </p:cNvPicPr>
          <p:nvPr/>
        </p:nvPicPr>
        <p:blipFill>
          <a:blip r:embed="rId4"/>
          <a:stretch>
            <a:fillRect/>
          </a:stretch>
        </p:blipFill>
        <p:spPr>
          <a:xfrm>
            <a:off x="8046720" y="1737360"/>
            <a:ext cx="3657600" cy="2585761"/>
          </a:xfrm>
          <a:prstGeom prst="rect">
            <a:avLst/>
          </a:prstGeom>
        </p:spPr>
      </p:pic>
      <p:sp>
        <p:nvSpPr>
          <p:cNvPr id="10" name="TextBox 9"/>
          <p:cNvSpPr txBox="1"/>
          <p:nvPr/>
        </p:nvSpPr>
        <p:spPr>
          <a:xfrm>
            <a:off x="457200" y="5486400"/>
            <a:ext cx="11155680" cy="914400"/>
          </a:xfrm>
          <a:prstGeom prst="rect">
            <a:avLst/>
          </a:prstGeom>
          <a:noFill/>
        </p:spPr>
        <p:txBody>
          <a:bodyPr wrap="none">
            <a:spAutoFit/>
          </a:bodyPr>
          <a:lstStyle/>
          <a:p>
            <a:pPr>
              <a:defRPr sz="1500">
                <a:solidFill>
                  <a:srgbClr val="FFFFFF"/>
                </a:solidFill>
              </a:defRPr>
            </a:pPr>
            <a:r>
              <a:t>• DEM: Elevation ranges from &lt;540m along river beds to &gt;1,100m in western ghat hills.</a:t>
            </a:r>
            <a:br/>
            <a:r>
              <a:t>• Slope: Ultra-flat accumulation basins identified in Shivajinagar and Aundh.</a:t>
            </a:r>
            <a:br/>
            <a:r>
              <a:t>• Distance to River: Euclidean buffering demonstrates localized structural vulnerability zones along main channels.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00F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94360"/>
          </a:xfrm>
          <a:prstGeom prst="rect">
            <a:avLst/>
          </a:prstGeom>
          <a:noFill/>
        </p:spPr>
        <p:txBody>
          <a:bodyPr wrap="square">
            <a:spAutoFit/>
          </a:bodyPr>
          <a:lstStyle/>
          <a:p>
            <a:pPr>
              <a:defRPr sz="2600" b="1">
                <a:solidFill>
                  <a:srgbClr val="FFFFFF"/>
                </a:solidFill>
                <a:latin typeface="Segoe UI"/>
              </a:defRPr>
            </a:pPr>
            <a:r>
              <a:t>7. FLOOD SUSCEPTIBILITY INDEX (FSI) &amp; STRUCTURAL DENSITY</a:t>
            </a:r>
          </a:p>
        </p:txBody>
      </p:sp>
      <p:sp>
        <p:nvSpPr>
          <p:cNvPr id="5" name="TextBox 4"/>
          <p:cNvSpPr txBox="1"/>
          <p:nvPr/>
        </p:nvSpPr>
        <p:spPr>
          <a:xfrm>
            <a:off x="457200" y="6446520"/>
            <a:ext cx="10972800" cy="320040"/>
          </a:xfrm>
          <a:prstGeom prst="rect">
            <a:avLst/>
          </a:prstGeom>
          <a:noFill/>
        </p:spPr>
        <p:txBody>
          <a:bodyPr wrap="none">
            <a:spAutoFit/>
          </a:bodyPr>
          <a:lstStyle/>
          <a:p>
            <a:pPr>
              <a:defRPr sz="1000">
                <a:solidFill>
                  <a:srgbClr val="DCE6F2"/>
                </a:solidFill>
                <a:latin typeface="Segoe UI"/>
              </a:defRPr>
            </a:pPr>
            <a:r>
              <a:t>GEONARRATIVE AI  |  M.SC. THESIS DEFENSE  |  SYMBIOSIS INSTITUTE OF GEOINFORMATICS (SIG), PUNE</a:t>
            </a:r>
          </a:p>
        </p:txBody>
      </p:sp>
      <p:sp>
        <p:nvSpPr>
          <p:cNvPr id="6" name="TextBox 5"/>
          <p:cNvSpPr txBox="1"/>
          <p:nvPr/>
        </p:nvSpPr>
        <p:spPr>
          <a:xfrm>
            <a:off x="457200" y="1005840"/>
            <a:ext cx="10972800" cy="731520"/>
          </a:xfrm>
          <a:prstGeom prst="rect">
            <a:avLst/>
          </a:prstGeom>
          <a:noFill/>
        </p:spPr>
        <p:txBody>
          <a:bodyPr wrap="square">
            <a:spAutoFit/>
          </a:bodyPr>
          <a:lstStyle/>
          <a:p>
            <a:pPr>
              <a:defRPr sz="2000" b="1">
                <a:solidFill>
                  <a:srgbClr val="00F5D4"/>
                </a:solidFill>
              </a:defRPr>
            </a:pPr>
            <a:r>
              <a:t>Synthesized Flood Susceptibility vs. Anthropogenic Structural Building Density:</a:t>
            </a:r>
          </a:p>
        </p:txBody>
      </p:sp>
      <p:pic>
        <p:nvPicPr>
          <p:cNvPr id="7" name="Picture 6" descr="11.jpg"/>
          <p:cNvPicPr>
            <a:picLocks noChangeAspect="1"/>
          </p:cNvPicPr>
          <p:nvPr/>
        </p:nvPicPr>
        <p:blipFill>
          <a:blip r:embed="rId2"/>
          <a:stretch>
            <a:fillRect/>
          </a:stretch>
        </p:blipFill>
        <p:spPr>
          <a:xfrm>
            <a:off x="457200" y="1645920"/>
            <a:ext cx="5394960" cy="3813997"/>
          </a:xfrm>
          <a:prstGeom prst="rect">
            <a:avLst/>
          </a:prstGeom>
        </p:spPr>
      </p:pic>
      <p:pic>
        <p:nvPicPr>
          <p:cNvPr id="8" name="Picture 7" descr="10.jpg"/>
          <p:cNvPicPr>
            <a:picLocks noChangeAspect="1"/>
          </p:cNvPicPr>
          <p:nvPr/>
        </p:nvPicPr>
        <p:blipFill>
          <a:blip r:embed="rId3"/>
          <a:stretch>
            <a:fillRect/>
          </a:stretch>
        </p:blipFill>
        <p:spPr>
          <a:xfrm>
            <a:off x="6217920" y="1645920"/>
            <a:ext cx="5394960" cy="3813997"/>
          </a:xfrm>
          <a:prstGeom prst="rect">
            <a:avLst/>
          </a:prstGeom>
        </p:spPr>
      </p:pic>
      <p:sp>
        <p:nvSpPr>
          <p:cNvPr id="9" name="TextBox 8"/>
          <p:cNvSpPr txBox="1"/>
          <p:nvPr/>
        </p:nvSpPr>
        <p:spPr>
          <a:xfrm>
            <a:off x="457200" y="5486400"/>
            <a:ext cx="11155680" cy="914400"/>
          </a:xfrm>
          <a:prstGeom prst="rect">
            <a:avLst/>
          </a:prstGeom>
          <a:noFill/>
        </p:spPr>
        <p:txBody>
          <a:bodyPr wrap="none">
            <a:spAutoFit/>
          </a:bodyPr>
          <a:lstStyle/>
          <a:p>
            <a:pPr>
              <a:defRPr sz="1600">
                <a:solidFill>
                  <a:srgbClr val="FFFFFF"/>
                </a:solidFill>
              </a:defRPr>
            </a:pPr>
            <a:r>
              <a:t>• High/Very High Susceptibility (Red/Purple) concentrates heavily in riparian wards along Mula-Mutha confluence.</a:t>
            </a:r>
            <a:br/>
            <a:r>
              <a:t>• Overlaying structural building density (Right) reveals severe urban exposure in historic high-density civic cores.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00F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94360"/>
          </a:xfrm>
          <a:prstGeom prst="rect">
            <a:avLst/>
          </a:prstGeom>
          <a:noFill/>
        </p:spPr>
        <p:txBody>
          <a:bodyPr wrap="square">
            <a:spAutoFit/>
          </a:bodyPr>
          <a:lstStyle/>
          <a:p>
            <a:pPr>
              <a:defRPr sz="2600" b="1">
                <a:solidFill>
                  <a:srgbClr val="FFFFFF"/>
                </a:solidFill>
                <a:latin typeface="Segoe UI"/>
              </a:defRPr>
            </a:pPr>
            <a:r>
              <a:t>8. SCIENTIFIC INTEGRITY: INUNDATION DEPTH DEFINITION &amp; SCOPE</a:t>
            </a:r>
          </a:p>
        </p:txBody>
      </p:sp>
      <p:sp>
        <p:nvSpPr>
          <p:cNvPr id="5" name="TextBox 4"/>
          <p:cNvSpPr txBox="1"/>
          <p:nvPr/>
        </p:nvSpPr>
        <p:spPr>
          <a:xfrm>
            <a:off x="457200" y="6446520"/>
            <a:ext cx="10972800" cy="320040"/>
          </a:xfrm>
          <a:prstGeom prst="rect">
            <a:avLst/>
          </a:prstGeom>
          <a:noFill/>
        </p:spPr>
        <p:txBody>
          <a:bodyPr wrap="none">
            <a:spAutoFit/>
          </a:bodyPr>
          <a:lstStyle/>
          <a:p>
            <a:pPr>
              <a:defRPr sz="1000">
                <a:solidFill>
                  <a:srgbClr val="DCE6F2"/>
                </a:solidFill>
                <a:latin typeface="Segoe UI"/>
              </a:defRPr>
            </a:pPr>
            <a:r>
              <a:t>GEONARRATIVE AI  |  M.SC. THESIS DEFENSE  |  SYMBIOSIS INSTITUTE OF GEOINFORMATICS (SIG), PUNE</a:t>
            </a:r>
          </a:p>
        </p:txBody>
      </p:sp>
      <p:sp>
        <p:nvSpPr>
          <p:cNvPr id="6" name="TextBox 5"/>
          <p:cNvSpPr txBox="1"/>
          <p:nvPr/>
        </p:nvSpPr>
        <p:spPr>
          <a:xfrm>
            <a:off x="731520" y="1188720"/>
            <a:ext cx="10698480" cy="5029200"/>
          </a:xfrm>
          <a:prstGeom prst="rect">
            <a:avLst/>
          </a:prstGeom>
          <a:noFill/>
        </p:spPr>
        <p:txBody>
          <a:bodyPr wrap="square">
            <a:spAutoFit/>
          </a:bodyPr>
          <a:lstStyle/>
          <a:p>
            <a:pPr>
              <a:defRPr sz="2200" b="1">
                <a:solidFill>
                  <a:srgbClr val="FF4C4C"/>
                </a:solidFill>
              </a:defRPr>
            </a:pPr>
            <a:r>
              <a:t>CRITICAL METHODOLOGICAL TERMINOLOGY &amp; GUARDRAILS</a:t>
            </a:r>
          </a:p>
          <a:p>
            <a:br/>
            <a:pPr>
              <a:spcBef>
                <a:spcPts val="1000"/>
              </a:spcBef>
              <a:defRPr sz="1900" b="1">
                <a:solidFill>
                  <a:srgbClr val="00F5D4"/>
                </a:solidFill>
              </a:defRPr>
            </a:pPr>
            <a:r>
              <a:t>•  Distinction from Empirical Hydrodynamics:</a:t>
            </a:r>
          </a:p>
          <a:p>
            <a:pPr>
              <a:defRPr sz="1700">
                <a:solidFill>
                  <a:srgbClr val="FFFFFF"/>
                </a:solidFill>
              </a:defRPr>
            </a:pPr>
            <a:r>
              <a:t>    The computational representations in GeoNarrative AI do NOT constitute direct numerical solutions to fluid Navier-Stokes or 2D Saint-Venant hydraulic shallow water physical equations (e.g., SWMM hydraulic modeling).</a:t>
            </a:r>
          </a:p>
          <a:p>
            <a:br/>
            <a:pPr>
              <a:spcBef>
                <a:spcPts val="1000"/>
              </a:spcBef>
              <a:defRPr sz="1900" b="1">
                <a:solidFill>
                  <a:srgbClr val="00F5D4"/>
                </a:solidFill>
              </a:defRPr>
            </a:pPr>
            <a:r>
              <a:t>•  Scenario-Derived Relative Inundation Depth Estimates:</a:t>
            </a:r>
          </a:p>
          <a:p>
            <a:pPr>
              <a:defRPr sz="1700">
                <a:solidFill>
                  <a:srgbClr val="FFFFFF"/>
                </a:solidFill>
              </a:defRPr>
            </a:pPr>
            <a:r>
              <a:t>    All simulated flood depths represent 'scenario-derived relative inundation depth estimates' derived from topographically evaluated susceptibility indices, localized DEM depressions, river proximity decay coefficients, and precipitation scaling.</a:t>
            </a:r>
          </a:p>
          <a:p>
            <a:br/>
            <a:pPr>
              <a:spcBef>
                <a:spcPts val="1000"/>
              </a:spcBef>
              <a:defRPr sz="1900" b="1">
                <a:solidFill>
                  <a:srgbClr val="00F5D4"/>
                </a:solidFill>
              </a:defRPr>
            </a:pPr>
            <a:r>
              <a:t>•  Operational Decision-Support Purpose:</a:t>
            </a:r>
          </a:p>
          <a:p>
            <a:pPr>
              <a:defRPr sz="1700">
                <a:solidFill>
                  <a:srgbClr val="FFFFFF"/>
                </a:solidFill>
              </a:defRPr>
            </a:pPr>
            <a:r>
              <a:t>    This topological modeling architecture is explicitly designed for instantaneous, real-time spatial prioritization and early warning disaster coordination without the extreme computational CPU rendering latency associated with physical hydrodynamic simulations.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00F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94360"/>
          </a:xfrm>
          <a:prstGeom prst="rect">
            <a:avLst/>
          </a:prstGeom>
          <a:noFill/>
        </p:spPr>
        <p:txBody>
          <a:bodyPr wrap="square">
            <a:spAutoFit/>
          </a:bodyPr>
          <a:lstStyle/>
          <a:p>
            <a:pPr>
              <a:defRPr sz="2600" b="1">
                <a:solidFill>
                  <a:srgbClr val="FFFFFF"/>
                </a:solidFill>
                <a:latin typeface="Segoe UI"/>
              </a:defRPr>
            </a:pPr>
            <a:r>
              <a:t>9. MULTI-SCENARIO INFRASTRUCTURE EXPOSURE SUMMARY MATRIX</a:t>
            </a:r>
          </a:p>
        </p:txBody>
      </p:sp>
      <p:sp>
        <p:nvSpPr>
          <p:cNvPr id="5" name="TextBox 4"/>
          <p:cNvSpPr txBox="1"/>
          <p:nvPr/>
        </p:nvSpPr>
        <p:spPr>
          <a:xfrm>
            <a:off x="457200" y="6446520"/>
            <a:ext cx="10972800" cy="320040"/>
          </a:xfrm>
          <a:prstGeom prst="rect">
            <a:avLst/>
          </a:prstGeom>
          <a:noFill/>
        </p:spPr>
        <p:txBody>
          <a:bodyPr wrap="none">
            <a:spAutoFit/>
          </a:bodyPr>
          <a:lstStyle/>
          <a:p>
            <a:pPr>
              <a:defRPr sz="1000">
                <a:solidFill>
                  <a:srgbClr val="DCE6F2"/>
                </a:solidFill>
                <a:latin typeface="Segoe UI"/>
              </a:defRPr>
            </a:pPr>
            <a:r>
              <a:t>GEONARRATIVE AI  |  M.SC. THESIS DEFENSE  |  SYMBIOSIS INSTITUTE OF GEOINFORMATICS (SIG), PUNE</a:t>
            </a:r>
          </a:p>
        </p:txBody>
      </p:sp>
      <p:sp>
        <p:nvSpPr>
          <p:cNvPr id="6" name="TextBox 5"/>
          <p:cNvSpPr txBox="1"/>
          <p:nvPr/>
        </p:nvSpPr>
        <p:spPr>
          <a:xfrm>
            <a:off x="457200" y="914400"/>
            <a:ext cx="10972800" cy="548640"/>
          </a:xfrm>
          <a:prstGeom prst="rect">
            <a:avLst/>
          </a:prstGeom>
          <a:noFill/>
        </p:spPr>
        <p:txBody>
          <a:bodyPr wrap="square">
            <a:spAutoFit/>
          </a:bodyPr>
          <a:lstStyle/>
          <a:p>
            <a:pPr>
              <a:defRPr sz="1800" b="1">
                <a:solidFill>
                  <a:srgbClr val="00F5D4"/>
                </a:solidFill>
              </a:defRPr>
            </a:pPr>
            <a:r>
              <a:t>Quantified Empirical Exposure across Normal, Moderate, Heavy, &amp; Extreme Storms:</a:t>
            </a:r>
          </a:p>
        </p:txBody>
      </p:sp>
      <p:graphicFrame>
        <p:nvGraphicFramePr>
          <p:cNvPr id="7" name="Table 6"/>
          <p:cNvGraphicFramePr>
            <a:graphicFrameLocks noGrp="1"/>
          </p:cNvGraphicFramePr>
          <p:nvPr/>
        </p:nvGraphicFramePr>
        <p:xfrm>
          <a:off x="457200" y="1554480"/>
          <a:ext cx="11274552" cy="4114800"/>
        </p:xfrm>
        <a:graphic>
          <a:graphicData uri="http://schemas.openxmlformats.org/drawingml/2006/table">
            <a:tbl>
              <a:tblPr firstRow="1" bandRow="1">
                <a:tableStyleId>{5C22544A-7EE6-4342-B048-85BDC9FD1C3A}</a:tableStyleId>
              </a:tblPr>
              <a:tblGrid>
                <a:gridCol w="1879092"/>
                <a:gridCol w="1879092"/>
                <a:gridCol w="1879092"/>
                <a:gridCol w="1879092"/>
                <a:gridCol w="1879092"/>
                <a:gridCol w="1879092"/>
              </a:tblGrid>
              <a:tr h="822960">
                <a:tc>
                  <a:txBody>
                    <a:bodyPr/>
                    <a:lstStyle/>
                    <a:p>
                      <a:pPr algn="ctr">
                        <a:defRPr sz="1400" b="1">
                          <a:solidFill>
                            <a:srgbClr val="00F5D4"/>
                          </a:solidFill>
                          <a:latin typeface="Segoe UI"/>
                        </a:defRPr>
                      </a:pPr>
                      <a:r>
                        <a:t>Scenario</a:t>
                      </a:r>
                    </a:p>
                  </a:txBody>
                  <a:tcPr>
                    <a:solidFill>
                      <a:srgbClr val="1C2541"/>
                    </a:solidFill>
                  </a:tcPr>
                </a:tc>
                <a:tc>
                  <a:txBody>
                    <a:bodyPr/>
                    <a:lstStyle/>
                    <a:p>
                      <a:pPr algn="ctr">
                        <a:defRPr sz="1400" b="1">
                          <a:solidFill>
                            <a:srgbClr val="00F5D4"/>
                          </a:solidFill>
                          <a:latin typeface="Segoe UI"/>
                        </a:defRPr>
                      </a:pPr>
                      <a:r>
                        <a:t>Rainfall Rate</a:t>
                      </a:r>
                    </a:p>
                  </a:txBody>
                  <a:tcPr>
                    <a:solidFill>
                      <a:srgbClr val="1C2541"/>
                    </a:solidFill>
                  </a:tcPr>
                </a:tc>
                <a:tc>
                  <a:txBody>
                    <a:bodyPr/>
                    <a:lstStyle/>
                    <a:p>
                      <a:pPr algn="ctr">
                        <a:defRPr sz="1400" b="1">
                          <a:solidFill>
                            <a:srgbClr val="00F5D4"/>
                          </a:solidFill>
                          <a:latin typeface="Segoe UI"/>
                        </a:defRPr>
                      </a:pPr>
                      <a:r>
                        <a:t>Relative Inundation</a:t>
                      </a:r>
                    </a:p>
                  </a:txBody>
                  <a:tcPr>
                    <a:solidFill>
                      <a:srgbClr val="1C2541"/>
                    </a:solidFill>
                  </a:tcPr>
                </a:tc>
                <a:tc>
                  <a:txBody>
                    <a:bodyPr/>
                    <a:lstStyle/>
                    <a:p>
                      <a:pPr algn="ctr">
                        <a:defRPr sz="1400" b="1">
                          <a:solidFill>
                            <a:srgbClr val="00F5D4"/>
                          </a:solidFill>
                          <a:latin typeface="Segoe UI"/>
                        </a:defRPr>
                      </a:pPr>
                      <a:r>
                        <a:t>Inundated Area (sq km)</a:t>
                      </a:r>
                    </a:p>
                  </a:txBody>
                  <a:tcPr>
                    <a:solidFill>
                      <a:srgbClr val="1C2541"/>
                    </a:solidFill>
                  </a:tcPr>
                </a:tc>
                <a:tc>
                  <a:txBody>
                    <a:bodyPr/>
                    <a:lstStyle/>
                    <a:p>
                      <a:pPr algn="ctr">
                        <a:defRPr sz="1400" b="1">
                          <a:solidFill>
                            <a:srgbClr val="00F5D4"/>
                          </a:solidFill>
                          <a:latin typeface="Segoe UI"/>
                        </a:defRPr>
                      </a:pPr>
                      <a:r>
                        <a:t>Impacted Buildings</a:t>
                      </a:r>
                    </a:p>
                  </a:txBody>
                  <a:tcPr>
                    <a:solidFill>
                      <a:srgbClr val="1C2541"/>
                    </a:solidFill>
                  </a:tcPr>
                </a:tc>
                <a:tc>
                  <a:txBody>
                    <a:bodyPr/>
                    <a:lstStyle/>
                    <a:p>
                      <a:pPr algn="ctr">
                        <a:defRPr sz="1400" b="1">
                          <a:solidFill>
                            <a:srgbClr val="00F5D4"/>
                          </a:solidFill>
                          <a:latin typeface="Segoe UI"/>
                        </a:defRPr>
                      </a:pPr>
                      <a:r>
                        <a:t>Severed Road Length</a:t>
                      </a:r>
                    </a:p>
                  </a:txBody>
                  <a:tcPr>
                    <a:solidFill>
                      <a:srgbClr val="1C2541"/>
                    </a:solidFill>
                  </a:tcPr>
                </a:tc>
              </a:tr>
              <a:tr h="822960">
                <a:tc>
                  <a:txBody>
                    <a:bodyPr/>
                    <a:lstStyle/>
                    <a:p>
                      <a:pPr algn="ctr">
                        <a:defRPr sz="1500" b="0">
                          <a:solidFill>
                            <a:srgbClr val="FFFFFF"/>
                          </a:solidFill>
                          <a:latin typeface="Segoe UI"/>
                        </a:defRPr>
                      </a:pPr>
                      <a:r>
                        <a:t>Normal</a:t>
                      </a:r>
                    </a:p>
                  </a:txBody>
                  <a:tcPr>
                    <a:solidFill>
                      <a:srgbClr val="121932"/>
                    </a:solidFill>
                  </a:tcPr>
                </a:tc>
                <a:tc>
                  <a:txBody>
                    <a:bodyPr/>
                    <a:lstStyle/>
                    <a:p>
                      <a:pPr algn="ctr">
                        <a:defRPr sz="1500" b="0">
                          <a:solidFill>
                            <a:srgbClr val="FFFFFF"/>
                          </a:solidFill>
                          <a:latin typeface="Segoe UI"/>
                        </a:defRPr>
                      </a:pPr>
                      <a:r>
                        <a:t>0 mm/hr</a:t>
                      </a:r>
                    </a:p>
                  </a:txBody>
                  <a:tcPr>
                    <a:solidFill>
                      <a:srgbClr val="121932"/>
                    </a:solidFill>
                  </a:tcPr>
                </a:tc>
                <a:tc>
                  <a:txBody>
                    <a:bodyPr/>
                    <a:lstStyle/>
                    <a:p>
                      <a:pPr algn="ctr">
                        <a:defRPr sz="1500" b="0">
                          <a:solidFill>
                            <a:srgbClr val="FFFFFF"/>
                          </a:solidFill>
                          <a:latin typeface="Segoe UI"/>
                        </a:defRPr>
                      </a:pPr>
                      <a:r>
                        <a:t>Baseline</a:t>
                      </a:r>
                    </a:p>
                  </a:txBody>
                  <a:tcPr>
                    <a:solidFill>
                      <a:srgbClr val="121932"/>
                    </a:solidFill>
                  </a:tcPr>
                </a:tc>
                <a:tc>
                  <a:txBody>
                    <a:bodyPr/>
                    <a:lstStyle/>
                    <a:p>
                      <a:pPr algn="ctr">
                        <a:defRPr sz="1500" b="0">
                          <a:solidFill>
                            <a:srgbClr val="FFFFFF"/>
                          </a:solidFill>
                          <a:latin typeface="Segoe UI"/>
                        </a:defRPr>
                      </a:pPr>
                      <a:r>
                        <a:t>0.00 sq km (0.0%)</a:t>
                      </a:r>
                    </a:p>
                  </a:txBody>
                  <a:tcPr>
                    <a:solidFill>
                      <a:srgbClr val="121932"/>
                    </a:solidFill>
                  </a:tcPr>
                </a:tc>
                <a:tc>
                  <a:txBody>
                    <a:bodyPr/>
                    <a:lstStyle/>
                    <a:p>
                      <a:pPr algn="ctr">
                        <a:defRPr sz="1500" b="0">
                          <a:solidFill>
                            <a:srgbClr val="FFFFFF"/>
                          </a:solidFill>
                          <a:latin typeface="Segoe UI"/>
                        </a:defRPr>
                      </a:pPr>
                      <a:r>
                        <a:t>0 (0.0%)</a:t>
                      </a:r>
                    </a:p>
                  </a:txBody>
                  <a:tcPr>
                    <a:solidFill>
                      <a:srgbClr val="121932"/>
                    </a:solidFill>
                  </a:tcPr>
                </a:tc>
                <a:tc>
                  <a:txBody>
                    <a:bodyPr/>
                    <a:lstStyle/>
                    <a:p>
                      <a:pPr algn="ctr">
                        <a:defRPr sz="1500" b="0">
                          <a:solidFill>
                            <a:srgbClr val="FFFFFF"/>
                          </a:solidFill>
                          <a:latin typeface="Segoe UI"/>
                        </a:defRPr>
                      </a:pPr>
                      <a:r>
                        <a:t>0.00 km (0.0%)</a:t>
                      </a:r>
                    </a:p>
                  </a:txBody>
                  <a:tcPr>
                    <a:solidFill>
                      <a:srgbClr val="121932"/>
                    </a:solidFill>
                  </a:tcPr>
                </a:tc>
              </a:tr>
              <a:tr h="822960">
                <a:tc>
                  <a:txBody>
                    <a:bodyPr/>
                    <a:lstStyle/>
                    <a:p>
                      <a:pPr algn="ctr">
                        <a:defRPr sz="1500" b="0">
                          <a:solidFill>
                            <a:srgbClr val="DCE6F2"/>
                          </a:solidFill>
                          <a:latin typeface="Segoe UI"/>
                        </a:defRPr>
                      </a:pPr>
                      <a:r>
                        <a:t>Moderate</a:t>
                      </a:r>
                    </a:p>
                  </a:txBody>
                  <a:tcPr>
                    <a:solidFill>
                      <a:srgbClr val="1C2541"/>
                    </a:solidFill>
                  </a:tcPr>
                </a:tc>
                <a:tc>
                  <a:txBody>
                    <a:bodyPr/>
                    <a:lstStyle/>
                    <a:p>
                      <a:pPr algn="ctr">
                        <a:defRPr sz="1500" b="0">
                          <a:solidFill>
                            <a:srgbClr val="FFFFFF"/>
                          </a:solidFill>
                          <a:latin typeface="Segoe UI"/>
                        </a:defRPr>
                      </a:pPr>
                      <a:r>
                        <a:t>30 mm/hr</a:t>
                      </a:r>
                    </a:p>
                  </a:txBody>
                  <a:tcPr>
                    <a:solidFill>
                      <a:srgbClr val="1C2541"/>
                    </a:solidFill>
                  </a:tcPr>
                </a:tc>
                <a:tc>
                  <a:txBody>
                    <a:bodyPr/>
                    <a:lstStyle/>
                    <a:p>
                      <a:pPr algn="ctr">
                        <a:defRPr sz="1500" b="0">
                          <a:solidFill>
                            <a:srgbClr val="FFFFFF"/>
                          </a:solidFill>
                          <a:latin typeface="Segoe UI"/>
                        </a:defRPr>
                      </a:pPr>
                      <a:r>
                        <a:t>≤ 1.0 m (Ponding)</a:t>
                      </a:r>
                    </a:p>
                  </a:txBody>
                  <a:tcPr>
                    <a:solidFill>
                      <a:srgbClr val="1C2541"/>
                    </a:solidFill>
                  </a:tcPr>
                </a:tc>
                <a:tc>
                  <a:txBody>
                    <a:bodyPr/>
                    <a:lstStyle/>
                    <a:p>
                      <a:pPr algn="ctr">
                        <a:defRPr sz="1500" b="0">
                          <a:solidFill>
                            <a:srgbClr val="FFFFFF"/>
                          </a:solidFill>
                          <a:latin typeface="Segoe UI"/>
                        </a:defRPr>
                      </a:pPr>
                      <a:r>
                        <a:t>~25.40 sq km (5.01%)</a:t>
                      </a:r>
                    </a:p>
                  </a:txBody>
                  <a:tcPr>
                    <a:solidFill>
                      <a:srgbClr val="1C2541"/>
                    </a:solidFill>
                  </a:tcPr>
                </a:tc>
                <a:tc>
                  <a:txBody>
                    <a:bodyPr/>
                    <a:lstStyle/>
                    <a:p>
                      <a:pPr algn="ctr">
                        <a:defRPr sz="1500" b="0">
                          <a:solidFill>
                            <a:srgbClr val="FFFFFF"/>
                          </a:solidFill>
                          <a:latin typeface="Segoe UI"/>
                        </a:defRPr>
                      </a:pPr>
                      <a:r>
                        <a:t>~3,600 (2.00%)</a:t>
                      </a:r>
                    </a:p>
                  </a:txBody>
                  <a:tcPr>
                    <a:solidFill>
                      <a:srgbClr val="1C2541"/>
                    </a:solidFill>
                  </a:tcPr>
                </a:tc>
                <a:tc>
                  <a:txBody>
                    <a:bodyPr/>
                    <a:lstStyle/>
                    <a:p>
                      <a:pPr algn="ctr">
                        <a:defRPr sz="1500" b="0">
                          <a:solidFill>
                            <a:srgbClr val="FFFFFF"/>
                          </a:solidFill>
                          <a:latin typeface="Segoe UI"/>
                        </a:defRPr>
                      </a:pPr>
                      <a:r>
                        <a:t>~370.00 km (4.97%)</a:t>
                      </a:r>
                    </a:p>
                  </a:txBody>
                  <a:tcPr>
                    <a:solidFill>
                      <a:srgbClr val="1C2541"/>
                    </a:solidFill>
                  </a:tcPr>
                </a:tc>
              </a:tr>
              <a:tr h="822960">
                <a:tc>
                  <a:txBody>
                    <a:bodyPr/>
                    <a:lstStyle/>
                    <a:p>
                      <a:pPr algn="ctr">
                        <a:defRPr sz="1500" b="0">
                          <a:solidFill>
                            <a:srgbClr val="FFBE0B"/>
                          </a:solidFill>
                          <a:latin typeface="Segoe UI"/>
                        </a:defRPr>
                      </a:pPr>
                      <a:r>
                        <a:t>Heavy</a:t>
                      </a:r>
                    </a:p>
                  </a:txBody>
                  <a:tcPr>
                    <a:solidFill>
                      <a:srgbClr val="121932"/>
                    </a:solidFill>
                  </a:tcPr>
                </a:tc>
                <a:tc>
                  <a:txBody>
                    <a:bodyPr/>
                    <a:lstStyle/>
                    <a:p>
                      <a:pPr algn="ctr">
                        <a:defRPr sz="1500" b="0">
                          <a:solidFill>
                            <a:srgbClr val="FFFFFF"/>
                          </a:solidFill>
                          <a:latin typeface="Segoe UI"/>
                        </a:defRPr>
                      </a:pPr>
                      <a:r>
                        <a:t>65 mm/hr</a:t>
                      </a:r>
                    </a:p>
                  </a:txBody>
                  <a:tcPr>
                    <a:solidFill>
                      <a:srgbClr val="121932"/>
                    </a:solidFill>
                  </a:tcPr>
                </a:tc>
                <a:tc>
                  <a:txBody>
                    <a:bodyPr/>
                    <a:lstStyle/>
                    <a:p>
                      <a:pPr algn="ctr">
                        <a:defRPr sz="1500" b="0">
                          <a:solidFill>
                            <a:srgbClr val="FFFFFF"/>
                          </a:solidFill>
                          <a:latin typeface="Segoe UI"/>
                        </a:defRPr>
                      </a:pPr>
                      <a:r>
                        <a:t>1.0 – 2.0 m (Waterlogging)</a:t>
                      </a:r>
                    </a:p>
                  </a:txBody>
                  <a:tcPr>
                    <a:solidFill>
                      <a:srgbClr val="121932"/>
                    </a:solidFill>
                  </a:tcPr>
                </a:tc>
                <a:tc>
                  <a:txBody>
                    <a:bodyPr/>
                    <a:lstStyle/>
                    <a:p>
                      <a:pPr algn="ctr">
                        <a:defRPr sz="1500" b="0">
                          <a:solidFill>
                            <a:srgbClr val="FFFFFF"/>
                          </a:solidFill>
                          <a:latin typeface="Segoe UI"/>
                        </a:defRPr>
                      </a:pPr>
                      <a:r>
                        <a:t>~68.10 sq km (13.43%)</a:t>
                      </a:r>
                    </a:p>
                  </a:txBody>
                  <a:tcPr>
                    <a:solidFill>
                      <a:srgbClr val="121932"/>
                    </a:solidFill>
                  </a:tcPr>
                </a:tc>
                <a:tc>
                  <a:txBody>
                    <a:bodyPr/>
                    <a:lstStyle/>
                    <a:p>
                      <a:pPr algn="ctr">
                        <a:defRPr sz="1500" b="0">
                          <a:solidFill>
                            <a:srgbClr val="FFFFFF"/>
                          </a:solidFill>
                          <a:latin typeface="Segoe UI"/>
                        </a:defRPr>
                      </a:pPr>
                      <a:r>
                        <a:t>~14,400 (7.99%)</a:t>
                      </a:r>
                    </a:p>
                  </a:txBody>
                  <a:tcPr>
                    <a:solidFill>
                      <a:srgbClr val="121932"/>
                    </a:solidFill>
                  </a:tcPr>
                </a:tc>
                <a:tc>
                  <a:txBody>
                    <a:bodyPr/>
                    <a:lstStyle/>
                    <a:p>
                      <a:pPr algn="ctr">
                        <a:defRPr sz="1500" b="0">
                          <a:solidFill>
                            <a:srgbClr val="FFFFFF"/>
                          </a:solidFill>
                          <a:latin typeface="Segoe UI"/>
                        </a:defRPr>
                      </a:pPr>
                      <a:r>
                        <a:t>~930.00 km (12.49%)</a:t>
                      </a:r>
                    </a:p>
                  </a:txBody>
                  <a:tcPr>
                    <a:solidFill>
                      <a:srgbClr val="121932"/>
                    </a:solidFill>
                  </a:tcPr>
                </a:tc>
              </a:tr>
              <a:tr h="822960">
                <a:tc>
                  <a:txBody>
                    <a:bodyPr/>
                    <a:lstStyle/>
                    <a:p>
                      <a:pPr algn="ctr">
                        <a:defRPr sz="1500" b="1">
                          <a:solidFill>
                            <a:srgbClr val="FF4C4C"/>
                          </a:solidFill>
                          <a:latin typeface="Segoe UI"/>
                        </a:defRPr>
                      </a:pPr>
                      <a:r>
                        <a:t>Extreme</a:t>
                      </a:r>
                    </a:p>
                  </a:txBody>
                  <a:tcPr>
                    <a:solidFill>
                      <a:srgbClr val="1C2541"/>
                    </a:solidFill>
                  </a:tcPr>
                </a:tc>
                <a:tc>
                  <a:txBody>
                    <a:bodyPr/>
                    <a:lstStyle/>
                    <a:p>
                      <a:pPr algn="ctr">
                        <a:defRPr sz="1500" b="1">
                          <a:solidFill>
                            <a:srgbClr val="FF4C4C"/>
                          </a:solidFill>
                          <a:latin typeface="Segoe UI"/>
                        </a:defRPr>
                      </a:pPr>
                      <a:r>
                        <a:t>120 mm/hr</a:t>
                      </a:r>
                    </a:p>
                  </a:txBody>
                  <a:tcPr>
                    <a:solidFill>
                      <a:srgbClr val="1C2541"/>
                    </a:solidFill>
                  </a:tcPr>
                </a:tc>
                <a:tc>
                  <a:txBody>
                    <a:bodyPr/>
                    <a:lstStyle/>
                    <a:p>
                      <a:pPr algn="ctr">
                        <a:defRPr sz="1500" b="1">
                          <a:solidFill>
                            <a:srgbClr val="FF4C4C"/>
                          </a:solidFill>
                          <a:latin typeface="Segoe UI"/>
                        </a:defRPr>
                      </a:pPr>
                      <a:r>
                        <a:t>&gt; 2.0 m (Critical Flood)</a:t>
                      </a:r>
                    </a:p>
                  </a:txBody>
                  <a:tcPr>
                    <a:solidFill>
                      <a:srgbClr val="1C2541"/>
                    </a:solidFill>
                  </a:tcPr>
                </a:tc>
                <a:tc>
                  <a:txBody>
                    <a:bodyPr/>
                    <a:lstStyle/>
                    <a:p>
                      <a:pPr algn="ctr">
                        <a:defRPr sz="1500" b="1">
                          <a:solidFill>
                            <a:srgbClr val="FF4C4C"/>
                          </a:solidFill>
                          <a:latin typeface="Segoe UI"/>
                        </a:defRPr>
                      </a:pPr>
                      <a:r>
                        <a:t>133.97 sq km (26.43%)</a:t>
                      </a:r>
                    </a:p>
                  </a:txBody>
                  <a:tcPr>
                    <a:solidFill>
                      <a:srgbClr val="1C2541"/>
                    </a:solidFill>
                  </a:tcPr>
                </a:tc>
                <a:tc>
                  <a:txBody>
                    <a:bodyPr/>
                    <a:lstStyle/>
                    <a:p>
                      <a:pPr algn="ctr">
                        <a:defRPr sz="1500" b="1">
                          <a:solidFill>
                            <a:srgbClr val="FF4C4C"/>
                          </a:solidFill>
                          <a:latin typeface="Segoe UI"/>
                        </a:defRPr>
                      </a:pPr>
                      <a:r>
                        <a:t>40,723 (22.59%)</a:t>
                      </a:r>
                    </a:p>
                  </a:txBody>
                  <a:tcPr>
                    <a:solidFill>
                      <a:srgbClr val="1C2541"/>
                    </a:solidFill>
                  </a:tcPr>
                </a:tc>
                <a:tc>
                  <a:txBody>
                    <a:bodyPr/>
                    <a:lstStyle/>
                    <a:p>
                      <a:pPr algn="ctr">
                        <a:defRPr sz="1500" b="1">
                          <a:solidFill>
                            <a:srgbClr val="FF4C4C"/>
                          </a:solidFill>
                          <a:latin typeface="Segoe UI"/>
                        </a:defRPr>
                      </a:pPr>
                      <a:r>
                        <a:t>1,877.47 km (25.21%)</a:t>
                      </a:r>
                    </a:p>
                  </a:txBody>
                  <a:tcPr>
                    <a:solidFill>
                      <a:srgbClr val="1C2541"/>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00F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94360"/>
          </a:xfrm>
          <a:prstGeom prst="rect">
            <a:avLst/>
          </a:prstGeom>
          <a:noFill/>
        </p:spPr>
        <p:txBody>
          <a:bodyPr wrap="square">
            <a:spAutoFit/>
          </a:bodyPr>
          <a:lstStyle/>
          <a:p>
            <a:pPr>
              <a:defRPr sz="2600" b="1">
                <a:solidFill>
                  <a:srgbClr val="FFFFFF"/>
                </a:solidFill>
                <a:latin typeface="Segoe UI"/>
              </a:defRPr>
            </a:pPr>
            <a:r>
              <a:t>10. ENTERPRISE SOFTWARE ARCHITECTURE: 3D DIGITAL TWIN</a:t>
            </a:r>
          </a:p>
        </p:txBody>
      </p:sp>
      <p:sp>
        <p:nvSpPr>
          <p:cNvPr id="5" name="TextBox 4"/>
          <p:cNvSpPr txBox="1"/>
          <p:nvPr/>
        </p:nvSpPr>
        <p:spPr>
          <a:xfrm>
            <a:off x="457200" y="6446520"/>
            <a:ext cx="10972800" cy="320040"/>
          </a:xfrm>
          <a:prstGeom prst="rect">
            <a:avLst/>
          </a:prstGeom>
          <a:noFill/>
        </p:spPr>
        <p:txBody>
          <a:bodyPr wrap="none">
            <a:spAutoFit/>
          </a:bodyPr>
          <a:lstStyle/>
          <a:p>
            <a:pPr>
              <a:defRPr sz="1000">
                <a:solidFill>
                  <a:srgbClr val="DCE6F2"/>
                </a:solidFill>
                <a:latin typeface="Segoe UI"/>
              </a:defRPr>
            </a:pPr>
            <a:r>
              <a:t>GEONARRATIVE AI  |  M.SC. THESIS DEFENSE  |  SYMBIOSIS INSTITUTE OF GEOINFORMATICS (SIG), PUNE</a:t>
            </a:r>
          </a:p>
        </p:txBody>
      </p:sp>
      <p:sp>
        <p:nvSpPr>
          <p:cNvPr id="6" name="TextBox 5"/>
          <p:cNvSpPr txBox="1"/>
          <p:nvPr/>
        </p:nvSpPr>
        <p:spPr>
          <a:xfrm>
            <a:off x="731520" y="1188720"/>
            <a:ext cx="10698480" cy="5029200"/>
          </a:xfrm>
          <a:prstGeom prst="rect">
            <a:avLst/>
          </a:prstGeom>
          <a:noFill/>
        </p:spPr>
        <p:txBody>
          <a:bodyPr wrap="square">
            <a:spAutoFit/>
          </a:bodyPr>
          <a:lstStyle/>
          <a:p>
            <a:pPr>
              <a:defRPr sz="2200" b="1">
                <a:solidFill>
                  <a:srgbClr val="00F5D4"/>
                </a:solidFill>
              </a:defRPr>
            </a:pPr>
            <a:r>
              <a:t>Full-Stack Geospatial Intelligence &amp; WebGL Engine:</a:t>
            </a:r>
          </a:p>
          <a:p>
            <a:br/>
            <a:pPr>
              <a:defRPr sz="1900" b="1">
                <a:solidFill>
                  <a:srgbClr val="FFBE0B"/>
                </a:solidFill>
              </a:defRPr>
            </a:pPr>
            <a:r>
              <a:t>•  Backend Analytical Pipeline (FastAPI &amp; PostGIS):</a:t>
            </a:r>
          </a:p>
          <a:p>
            <a:pPr>
              <a:defRPr sz="1700">
                <a:solidFill>
                  <a:srgbClr val="FFFFFF"/>
                </a:solidFill>
              </a:defRPr>
            </a:pPr>
            <a:r>
              <a:t>    Asynchronous Python FastAPI microservices managing spatial intersecting queries over PostGIS municipal databases, streaming precomputed 45-frame raster animations at 60 FPS.</a:t>
            </a:r>
          </a:p>
          <a:p>
            <a:br/>
            <a:pPr>
              <a:defRPr sz="1900" b="1">
                <a:solidFill>
                  <a:srgbClr val="FFBE0B"/>
                </a:solidFill>
              </a:defRPr>
            </a:pPr>
            <a:r>
              <a:t>•  Frontend 3D Digital Twin (CesiumJS WebGL):</a:t>
            </a:r>
          </a:p>
          <a:p>
            <a:pPr>
              <a:defRPr sz="1700">
                <a:solidFill>
                  <a:srgbClr val="FFFFFF"/>
                </a:solidFill>
              </a:defRPr>
            </a:pPr>
            <a:r>
              <a:t>    High-fidelity terrain visualization blending realistic 3D building structural tiles with persistent, dynamic permanent river streamlines.</a:t>
            </a:r>
          </a:p>
          <a:p>
            <a:br/>
            <a:pPr>
              <a:defRPr sz="1900" b="1">
                <a:solidFill>
                  <a:srgbClr val="FFBE0B"/>
                </a:solidFill>
              </a:defRPr>
            </a:pPr>
            <a:r>
              <a:t>•  Dynamic Infrastructure Hazard Color-Ramps:</a:t>
            </a:r>
          </a:p>
          <a:p>
            <a:pPr>
              <a:defRPr sz="1700">
                <a:solidFill>
                  <a:srgbClr val="FFFFFF"/>
                </a:solidFill>
              </a:defRPr>
            </a:pPr>
            <a:r>
              <a:t>    Real-time visual geometry shader injection shifting structural building styling dynamically from baseline Safe Cyan to Critical Hazard Red based on localized flood progression.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00F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94360"/>
          </a:xfrm>
          <a:prstGeom prst="rect">
            <a:avLst/>
          </a:prstGeom>
          <a:noFill/>
        </p:spPr>
        <p:txBody>
          <a:bodyPr wrap="square">
            <a:spAutoFit/>
          </a:bodyPr>
          <a:lstStyle/>
          <a:p>
            <a:pPr>
              <a:defRPr sz="2600" b="1">
                <a:solidFill>
                  <a:srgbClr val="FFFFFF"/>
                </a:solidFill>
                <a:latin typeface="Segoe UI"/>
              </a:defRPr>
            </a:pPr>
            <a:r>
              <a:t>11. EXPLAINABLE GEOAI CONVERSATIONAL ASSISTANT &amp; REPORT AGENT</a:t>
            </a:r>
          </a:p>
        </p:txBody>
      </p:sp>
      <p:sp>
        <p:nvSpPr>
          <p:cNvPr id="5" name="TextBox 4"/>
          <p:cNvSpPr txBox="1"/>
          <p:nvPr/>
        </p:nvSpPr>
        <p:spPr>
          <a:xfrm>
            <a:off x="457200" y="6446520"/>
            <a:ext cx="10972800" cy="320040"/>
          </a:xfrm>
          <a:prstGeom prst="rect">
            <a:avLst/>
          </a:prstGeom>
          <a:noFill/>
        </p:spPr>
        <p:txBody>
          <a:bodyPr wrap="none">
            <a:spAutoFit/>
          </a:bodyPr>
          <a:lstStyle/>
          <a:p>
            <a:pPr>
              <a:defRPr sz="1000">
                <a:solidFill>
                  <a:srgbClr val="DCE6F2"/>
                </a:solidFill>
                <a:latin typeface="Segoe UI"/>
              </a:defRPr>
            </a:pPr>
            <a:r>
              <a:t>GEONARRATIVE AI  |  M.SC. THESIS DEFENSE  |  SYMBIOSIS INSTITUTE OF GEOINFORMATICS (SIG), PUNE</a:t>
            </a:r>
          </a:p>
        </p:txBody>
      </p:sp>
      <p:sp>
        <p:nvSpPr>
          <p:cNvPr id="6" name="TextBox 5"/>
          <p:cNvSpPr txBox="1"/>
          <p:nvPr/>
        </p:nvSpPr>
        <p:spPr>
          <a:xfrm>
            <a:off x="731520" y="1188720"/>
            <a:ext cx="10698480" cy="5029200"/>
          </a:xfrm>
          <a:prstGeom prst="rect">
            <a:avLst/>
          </a:prstGeom>
          <a:noFill/>
        </p:spPr>
        <p:txBody>
          <a:bodyPr wrap="square">
            <a:spAutoFit/>
          </a:bodyPr>
          <a:lstStyle/>
          <a:p>
            <a:pPr>
              <a:defRPr sz="2200" b="1">
                <a:solidFill>
                  <a:srgbClr val="00F5D4"/>
                </a:solidFill>
              </a:defRPr>
            </a:pPr>
            <a:r>
              <a:t>LLM-Driven Natural Language Decision Support:</a:t>
            </a:r>
          </a:p>
          <a:p>
            <a:br/>
            <a:pPr>
              <a:defRPr sz="1900" b="1">
                <a:solidFill>
                  <a:srgbClr val="78A0FF"/>
                </a:solidFill>
              </a:defRPr>
            </a:pPr>
            <a:r>
              <a:t>•  Natural Language Spatial Querying:</a:t>
            </a:r>
          </a:p>
          <a:p>
            <a:pPr>
              <a:defRPr sz="1700">
                <a:solidFill>
                  <a:srgbClr val="FFFFFF"/>
                </a:solidFill>
              </a:defRPr>
            </a:pPr>
            <a:r>
              <a:t>    Translates non-technical questions (e.g., 'Which ward has the most buildings at risk in heavy storms?') directly into PostGIS analytical queries and presents readable responses.</a:t>
            </a:r>
          </a:p>
          <a:p>
            <a:br/>
            <a:pPr>
              <a:defRPr sz="1900" b="1">
                <a:solidFill>
                  <a:srgbClr val="78A0FF"/>
                </a:solidFill>
              </a:defRPr>
            </a:pPr>
            <a:r>
              <a:t>•  Automated Situation Report Agent:</a:t>
            </a:r>
          </a:p>
          <a:p>
            <a:pPr>
              <a:defRPr sz="1700">
                <a:solidFill>
                  <a:srgbClr val="FFFFFF"/>
                </a:solidFill>
              </a:defRPr>
            </a:pPr>
            <a:r>
              <a:t>    Instantly compiles active simulated parameters into structured, downloadable emergency situation reports and executive ward-level evacuation briefs.</a:t>
            </a:r>
          </a:p>
          <a:p>
            <a:br/>
            <a:pPr>
              <a:defRPr sz="1900" b="1">
                <a:solidFill>
                  <a:srgbClr val="78A0FF"/>
                </a:solidFill>
              </a:defRPr>
            </a:pPr>
            <a:r>
              <a:t>•  Bridging Academic GIS and Emergency Operations:</a:t>
            </a:r>
          </a:p>
          <a:p>
            <a:pPr>
              <a:defRPr sz="1700">
                <a:solidFill>
                  <a:srgbClr val="FFFFFF"/>
                </a:solidFill>
              </a:defRPr>
            </a:pPr>
            <a:r>
              <a:t>    Removes technical barriers, enabling municipal disaster response commanders to operate advanced geospatial risk models without coding or GIS software expertise.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00F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94360"/>
          </a:xfrm>
          <a:prstGeom prst="rect">
            <a:avLst/>
          </a:prstGeom>
          <a:noFill/>
        </p:spPr>
        <p:txBody>
          <a:bodyPr wrap="square">
            <a:spAutoFit/>
          </a:bodyPr>
          <a:lstStyle/>
          <a:p>
            <a:pPr>
              <a:defRPr sz="2600" b="1">
                <a:solidFill>
                  <a:srgbClr val="FFFFFF"/>
                </a:solidFill>
                <a:latin typeface="Segoe UI"/>
              </a:defRPr>
            </a:pPr>
            <a:r>
              <a:t>12. TECHNICAL LIMITATIONS &amp; FUTURE RESEARCH PERSPECTIVES</a:t>
            </a:r>
          </a:p>
        </p:txBody>
      </p:sp>
      <p:sp>
        <p:nvSpPr>
          <p:cNvPr id="5" name="TextBox 4"/>
          <p:cNvSpPr txBox="1"/>
          <p:nvPr/>
        </p:nvSpPr>
        <p:spPr>
          <a:xfrm>
            <a:off x="457200" y="6446520"/>
            <a:ext cx="10972800" cy="320040"/>
          </a:xfrm>
          <a:prstGeom prst="rect">
            <a:avLst/>
          </a:prstGeom>
          <a:noFill/>
        </p:spPr>
        <p:txBody>
          <a:bodyPr wrap="none">
            <a:spAutoFit/>
          </a:bodyPr>
          <a:lstStyle/>
          <a:p>
            <a:pPr>
              <a:defRPr sz="1000">
                <a:solidFill>
                  <a:srgbClr val="DCE6F2"/>
                </a:solidFill>
                <a:latin typeface="Segoe UI"/>
              </a:defRPr>
            </a:pPr>
            <a:r>
              <a:t>GEONARRATIVE AI  |  M.SC. THESIS DEFENSE  |  SYMBIOSIS INSTITUTE OF GEOINFORMATICS (SIG), PUNE</a:t>
            </a:r>
          </a:p>
        </p:txBody>
      </p:sp>
      <p:sp>
        <p:nvSpPr>
          <p:cNvPr id="6" name="TextBox 5"/>
          <p:cNvSpPr txBox="1"/>
          <p:nvPr/>
        </p:nvSpPr>
        <p:spPr>
          <a:xfrm>
            <a:off x="731520" y="1188720"/>
            <a:ext cx="10698480" cy="5029200"/>
          </a:xfrm>
          <a:prstGeom prst="rect">
            <a:avLst/>
          </a:prstGeom>
          <a:noFill/>
        </p:spPr>
        <p:txBody>
          <a:bodyPr wrap="square">
            <a:spAutoFit/>
          </a:bodyPr>
          <a:lstStyle/>
          <a:p>
            <a:pPr>
              <a:defRPr sz="2200" b="1">
                <a:solidFill>
                  <a:srgbClr val="00F5D4"/>
                </a:solidFill>
              </a:defRPr>
            </a:pPr>
            <a:r>
              <a:t>Academic Transparency &amp; Path Forward:</a:t>
            </a:r>
          </a:p>
          <a:p>
            <a:pPr>
              <a:spcBef>
                <a:spcPts val="1200"/>
              </a:spcBef>
              <a:defRPr sz="1800" b="1">
                <a:solidFill>
                  <a:srgbClr val="FFBE0B"/>
                </a:solidFill>
              </a:defRPr>
            </a:pPr>
            <a:r>
              <a:t>•  DEM Spatial Resolution Constraints:</a:t>
            </a:r>
          </a:p>
          <a:p>
            <a:pPr>
              <a:defRPr sz="1600">
                <a:solidFill>
                  <a:srgbClr val="FFFFFF"/>
                </a:solidFill>
              </a:defRPr>
            </a:pPr>
            <a:r>
              <a:t>    Current topography modeling is bounded by open 30-meter DEM resolution, which inevitably abstracts micro-urban terrain structures like local curbs, culverts, and individual flood defense retaining walls.</a:t>
            </a:r>
          </a:p>
          <a:p>
            <a:pPr>
              <a:spcBef>
                <a:spcPts val="1200"/>
              </a:spcBef>
              <a:defRPr sz="1800" b="1">
                <a:solidFill>
                  <a:srgbClr val="FFBE0B"/>
                </a:solidFill>
              </a:defRPr>
            </a:pPr>
            <a:r>
              <a:t>•  Calibration &amp; Validation Infrastructure:</a:t>
            </a:r>
          </a:p>
          <a:p>
            <a:pPr>
              <a:defRPr sz="1600">
                <a:solidFill>
                  <a:srgbClr val="FFFFFF"/>
                </a:solidFill>
              </a:defRPr>
            </a:pPr>
            <a:r>
              <a:t>    Due to an absence of dense real-time municipal IoT river stream gauges, model calibration relies on historical news documentation and municipal flood reporting records.</a:t>
            </a:r>
          </a:p>
          <a:p>
            <a:pPr>
              <a:spcBef>
                <a:spcPts val="1200"/>
              </a:spcBef>
              <a:defRPr sz="1800" b="1">
                <a:solidFill>
                  <a:srgbClr val="00F5D4"/>
                </a:solidFill>
              </a:defRPr>
            </a:pPr>
            <a:r>
              <a:t>•  Future Scope 1: High-Resolution Drone LiDAR:</a:t>
            </a:r>
          </a:p>
          <a:p>
            <a:pPr>
              <a:defRPr sz="1600">
                <a:solidFill>
                  <a:srgbClr val="FFFFFF"/>
                </a:solidFill>
              </a:defRPr>
            </a:pPr>
            <a:r>
              <a:t>    Upgrading topographic baseline rasters to sub-meter drone-derived LiDAR surface models for micro-hydrological precision.</a:t>
            </a:r>
          </a:p>
          <a:p>
            <a:pPr>
              <a:spcBef>
                <a:spcPts val="1200"/>
              </a:spcBef>
              <a:defRPr sz="1800" b="1">
                <a:solidFill>
                  <a:srgbClr val="00F5D4"/>
                </a:solidFill>
              </a:defRPr>
            </a:pPr>
            <a:r>
              <a:t>•  Future Scope 2: Real-Time IoT Sensor Ingestion &amp; 2D Hydrodynamics:</a:t>
            </a:r>
          </a:p>
          <a:p>
            <a:pPr>
              <a:defRPr sz="1600">
                <a:solidFill>
                  <a:srgbClr val="FFFFFF"/>
                </a:solidFill>
              </a:defRPr>
            </a:pPr>
            <a:r>
              <a:t>    Integrating real-time telemetry river gauge data streams and embedding fully coupled 2D hydrodynamic simulation engines.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45720"/>
          </a:xfrm>
          <a:prstGeom prst="rect">
            <a:avLst/>
          </a:prstGeom>
          <a:solidFill>
            <a:srgbClr val="00F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594360"/>
          </a:xfrm>
          <a:prstGeom prst="rect">
            <a:avLst/>
          </a:prstGeom>
          <a:noFill/>
        </p:spPr>
        <p:txBody>
          <a:bodyPr wrap="square">
            <a:spAutoFit/>
          </a:bodyPr>
          <a:lstStyle/>
          <a:p>
            <a:pPr>
              <a:defRPr sz="2600" b="1">
                <a:solidFill>
                  <a:srgbClr val="FFFFFF"/>
                </a:solidFill>
                <a:latin typeface="Segoe UI"/>
              </a:defRPr>
            </a:pPr>
            <a:r>
              <a:t>13. CONCLUSION &amp; CORE ACADEMIC CONTRIBUTIONS</a:t>
            </a:r>
          </a:p>
        </p:txBody>
      </p:sp>
      <p:sp>
        <p:nvSpPr>
          <p:cNvPr id="5" name="TextBox 4"/>
          <p:cNvSpPr txBox="1"/>
          <p:nvPr/>
        </p:nvSpPr>
        <p:spPr>
          <a:xfrm>
            <a:off x="457200" y="6446520"/>
            <a:ext cx="10972800" cy="320040"/>
          </a:xfrm>
          <a:prstGeom prst="rect">
            <a:avLst/>
          </a:prstGeom>
          <a:noFill/>
        </p:spPr>
        <p:txBody>
          <a:bodyPr wrap="none">
            <a:spAutoFit/>
          </a:bodyPr>
          <a:lstStyle/>
          <a:p>
            <a:pPr>
              <a:defRPr sz="1000">
                <a:solidFill>
                  <a:srgbClr val="DCE6F2"/>
                </a:solidFill>
                <a:latin typeface="Segoe UI"/>
              </a:defRPr>
            </a:pPr>
            <a:r>
              <a:t>GEONARRATIVE AI  |  M.SC. THESIS DEFENSE  |  SYMBIOSIS INSTITUTE OF GEOINFORMATICS (SIG), PUNE</a:t>
            </a:r>
          </a:p>
        </p:txBody>
      </p:sp>
      <p:sp>
        <p:nvSpPr>
          <p:cNvPr id="6" name="TextBox 5"/>
          <p:cNvSpPr txBox="1"/>
          <p:nvPr/>
        </p:nvSpPr>
        <p:spPr>
          <a:xfrm>
            <a:off x="731520" y="1188720"/>
            <a:ext cx="10698480" cy="5029200"/>
          </a:xfrm>
          <a:prstGeom prst="rect">
            <a:avLst/>
          </a:prstGeom>
          <a:noFill/>
        </p:spPr>
        <p:txBody>
          <a:bodyPr wrap="square">
            <a:spAutoFit/>
          </a:bodyPr>
          <a:lstStyle/>
          <a:p>
            <a:pPr>
              <a:defRPr sz="2200" b="1">
                <a:solidFill>
                  <a:srgbClr val="00F5D4"/>
                </a:solidFill>
              </a:defRPr>
            </a:pPr>
            <a:r>
              <a:t>Synthesis of Dissertation Contributions:</a:t>
            </a:r>
          </a:p>
          <a:p>
            <a:br/>
            <a:pPr>
              <a:defRPr sz="1800" b="1">
                <a:solidFill>
                  <a:srgbClr val="FFFFFF"/>
                </a:solidFill>
              </a:defRPr>
            </a:pPr>
            <a:r>
              <a:t>✓   Successfully unified traditional Multi-Criteria Decision Analysis (AHP) with modern interactive 3D WebGL Digital Twin technology.</a:t>
            </a:r>
          </a:p>
          <a:p>
            <a:br/>
            <a:pPr>
              <a:defRPr sz="1800" b="1">
                <a:solidFill>
                  <a:srgbClr val="FFFFFF"/>
                </a:solidFill>
              </a:defRPr>
            </a:pPr>
            <a:r>
              <a:t>✓   Delivered verified empirical impact exposure calculations across 180,307 buildings and 7,445.90 km of road transport networks in Pune.</a:t>
            </a:r>
          </a:p>
          <a:p>
            <a:br/>
            <a:pPr>
              <a:defRPr sz="1800" b="1">
                <a:solidFill>
                  <a:srgbClr val="FFFFFF"/>
                </a:solidFill>
              </a:defRPr>
            </a:pPr>
            <a:r>
              <a:t>✓   Established an innovative, explainable GeoAI operational blueprint designed explicitly for Smart City governance and resilient urban disaster coordination.</a:t>
            </a:r>
          </a:p>
          <a:p>
            <a:br/>
            <a:br/>
            <a:pPr algn="ctr">
              <a:defRPr sz="2400" b="1">
                <a:solidFill>
                  <a:srgbClr val="00F5D4"/>
                </a:solidFill>
              </a:defRPr>
            </a:pPr>
            <a:r>
              <a:t>THANK YOU FOR YOUR ATTENTION.</a:t>
            </a:r>
            <a:br/>
            <a:r>
              <a:t>OPEN FOR EVALUATION &amp; DEFENSE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